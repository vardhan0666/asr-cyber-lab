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Hubot Sans" panose="020B0604020202020204" charset="0"/>
      <p:regular r:id="rId13"/>
    </p:embeddedFont>
    <p:embeddedFont>
      <p:font typeface="Hubot Sans Bold" panose="020B0604020202020204" charset="0"/>
      <p:regular r:id="rId14"/>
    </p:embeddedFont>
    <p:embeddedFont>
      <p:font typeface="Martian Mono" panose="020B0604020202020204" charset="0"/>
      <p:regular r:id="rId15"/>
    </p:embeddedFont>
    <p:embeddedFont>
      <p:font typeface="Space Grotesk"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09CCB9-98D9-46F6-93CB-AF2CB1AB85CB}" v="1" dt="2026-09-26T06:11:05.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hangala vardhan babu" userId="1f2a5f0938d943e7" providerId="LiveId" clId="{08BECE86-8B0E-4C53-88DC-28DA5EA62808}"/>
    <pc:docChg chg="custSel modSld">
      <pc:chgData name="kushangala vardhan babu" userId="1f2a5f0938d943e7" providerId="LiveId" clId="{08BECE86-8B0E-4C53-88DC-28DA5EA62808}" dt="2026-09-26T06:13:25.851" v="45" actId="1076"/>
      <pc:docMkLst>
        <pc:docMk/>
      </pc:docMkLst>
      <pc:sldChg chg="addSp delSp modSp mod">
        <pc:chgData name="kushangala vardhan babu" userId="1f2a5f0938d943e7" providerId="LiveId" clId="{08BECE86-8B0E-4C53-88DC-28DA5EA62808}" dt="2026-09-26T06:10:25.180" v="5" actId="1076"/>
        <pc:sldMkLst>
          <pc:docMk/>
          <pc:sldMk cId="0" sldId="256"/>
        </pc:sldMkLst>
        <pc:spChg chg="add del mod">
          <ac:chgData name="kushangala vardhan babu" userId="1f2a5f0938d943e7" providerId="LiveId" clId="{08BECE86-8B0E-4C53-88DC-28DA5EA62808}" dt="2026-09-26T06:09:55.424" v="2" actId="478"/>
          <ac:spMkLst>
            <pc:docMk/>
            <pc:sldMk cId="0" sldId="256"/>
            <ac:spMk id="8" creationId="{8921EC4D-606F-F59D-403C-4F8EF1DB26BD}"/>
          </ac:spMkLst>
        </pc:spChg>
        <pc:picChg chg="add mod">
          <ac:chgData name="kushangala vardhan babu" userId="1f2a5f0938d943e7" providerId="LiveId" clId="{08BECE86-8B0E-4C53-88DC-28DA5EA62808}" dt="2026-09-26T06:10:25.180" v="5" actId="1076"/>
          <ac:picMkLst>
            <pc:docMk/>
            <pc:sldMk cId="0" sldId="256"/>
            <ac:picMk id="10" creationId="{19571A5E-D913-E858-E4A8-30EE85EFE16F}"/>
          </ac:picMkLst>
        </pc:picChg>
      </pc:sldChg>
      <pc:sldChg chg="addSp modSp mod">
        <pc:chgData name="kushangala vardhan babu" userId="1f2a5f0938d943e7" providerId="LiveId" clId="{08BECE86-8B0E-4C53-88DC-28DA5EA62808}" dt="2026-09-26T06:11:06.115" v="31" actId="27636"/>
        <pc:sldMkLst>
          <pc:docMk/>
          <pc:sldMk cId="0" sldId="257"/>
        </pc:sldMkLst>
        <pc:spChg chg="mod">
          <ac:chgData name="kushangala vardhan babu" userId="1f2a5f0938d943e7" providerId="LiveId" clId="{08BECE86-8B0E-4C53-88DC-28DA5EA62808}" dt="2026-09-26T06:11:06.115" v="31" actId="27636"/>
          <ac:spMkLst>
            <pc:docMk/>
            <pc:sldMk cId="0" sldId="257"/>
            <ac:spMk id="3" creationId="{00000000-0000-0000-0000-000000000000}"/>
          </ac:spMkLst>
        </pc:spChg>
        <pc:spChg chg="mod">
          <ac:chgData name="kushangala vardhan babu" userId="1f2a5f0938d943e7" providerId="LiveId" clId="{08BECE86-8B0E-4C53-88DC-28DA5EA62808}" dt="2026-09-26T06:10:39.308" v="13" actId="1035"/>
          <ac:spMkLst>
            <pc:docMk/>
            <pc:sldMk cId="0" sldId="257"/>
            <ac:spMk id="24" creationId="{00000000-0000-0000-0000-000000000000}"/>
          </ac:spMkLst>
        </pc:spChg>
        <pc:picChg chg="add mod">
          <ac:chgData name="kushangala vardhan babu" userId="1f2a5f0938d943e7" providerId="LiveId" clId="{08BECE86-8B0E-4C53-88DC-28DA5EA62808}" dt="2026-09-26T06:10:34.987" v="8" actId="1076"/>
          <ac:picMkLst>
            <pc:docMk/>
            <pc:sldMk cId="0" sldId="257"/>
            <ac:picMk id="26" creationId="{3BDAE48E-A9AF-1AA1-75ED-E302ECDF3CDE}"/>
          </ac:picMkLst>
        </pc:picChg>
      </pc:sldChg>
      <pc:sldChg chg="addSp modSp mod">
        <pc:chgData name="kushangala vardhan babu" userId="1f2a5f0938d943e7" providerId="LiveId" clId="{08BECE86-8B0E-4C53-88DC-28DA5EA62808}" dt="2026-09-26T06:10:50.130" v="16" actId="1076"/>
        <pc:sldMkLst>
          <pc:docMk/>
          <pc:sldMk cId="0" sldId="258"/>
        </pc:sldMkLst>
        <pc:picChg chg="add mod">
          <ac:chgData name="kushangala vardhan babu" userId="1f2a5f0938d943e7" providerId="LiveId" clId="{08BECE86-8B0E-4C53-88DC-28DA5EA62808}" dt="2026-09-26T06:10:50.130" v="16" actId="1076"/>
          <ac:picMkLst>
            <pc:docMk/>
            <pc:sldMk cId="0" sldId="258"/>
            <ac:picMk id="6" creationId="{48AB1460-B9D7-6C76-6E06-CBD127B29C7E}"/>
          </ac:picMkLst>
        </pc:picChg>
      </pc:sldChg>
      <pc:sldChg chg="addSp modSp mod">
        <pc:chgData name="kushangala vardhan babu" userId="1f2a5f0938d943e7" providerId="LiveId" clId="{08BECE86-8B0E-4C53-88DC-28DA5EA62808}" dt="2026-09-26T06:11:00.339" v="19" actId="1076"/>
        <pc:sldMkLst>
          <pc:docMk/>
          <pc:sldMk cId="0" sldId="259"/>
        </pc:sldMkLst>
        <pc:picChg chg="add mod">
          <ac:chgData name="kushangala vardhan babu" userId="1f2a5f0938d943e7" providerId="LiveId" clId="{08BECE86-8B0E-4C53-88DC-28DA5EA62808}" dt="2026-09-26T06:11:00.339" v="19" actId="1076"/>
          <ac:picMkLst>
            <pc:docMk/>
            <pc:sldMk cId="0" sldId="259"/>
            <ac:picMk id="6" creationId="{FE5A4463-3A08-1650-F0AF-5A9E5E2E12F3}"/>
          </ac:picMkLst>
        </pc:picChg>
      </pc:sldChg>
      <pc:sldChg chg="addSp delSp modSp mod">
        <pc:chgData name="kushangala vardhan babu" userId="1f2a5f0938d943e7" providerId="LiveId" clId="{08BECE86-8B0E-4C53-88DC-28DA5EA62808}" dt="2026-09-26T06:11:15.985" v="36" actId="1076"/>
        <pc:sldMkLst>
          <pc:docMk/>
          <pc:sldMk cId="0" sldId="260"/>
        </pc:sldMkLst>
        <pc:spChg chg="add del mod">
          <ac:chgData name="kushangala vardhan babu" userId="1f2a5f0938d943e7" providerId="LiveId" clId="{08BECE86-8B0E-4C53-88DC-28DA5EA62808}" dt="2026-09-26T06:11:07.241" v="33"/>
          <ac:spMkLst>
            <pc:docMk/>
            <pc:sldMk cId="0" sldId="260"/>
            <ac:spMk id="44" creationId="{1917E1B8-4702-8E29-0970-7D6B7AA3F2AB}"/>
          </ac:spMkLst>
        </pc:spChg>
        <pc:picChg chg="add mod">
          <ac:chgData name="kushangala vardhan babu" userId="1f2a5f0938d943e7" providerId="LiveId" clId="{08BECE86-8B0E-4C53-88DC-28DA5EA62808}" dt="2026-09-26T06:11:15.985" v="36" actId="1076"/>
          <ac:picMkLst>
            <pc:docMk/>
            <pc:sldMk cId="0" sldId="260"/>
            <ac:picMk id="46" creationId="{5D00E586-8D53-13A1-9AF1-BA39BC2EF808}"/>
          </ac:picMkLst>
        </pc:picChg>
      </pc:sldChg>
      <pc:sldChg chg="addSp modSp mod">
        <pc:chgData name="kushangala vardhan babu" userId="1f2a5f0938d943e7" providerId="LiveId" clId="{08BECE86-8B0E-4C53-88DC-28DA5EA62808}" dt="2026-09-26T06:11:28.499" v="39" actId="1076"/>
        <pc:sldMkLst>
          <pc:docMk/>
          <pc:sldMk cId="0" sldId="261"/>
        </pc:sldMkLst>
        <pc:picChg chg="add mod">
          <ac:chgData name="kushangala vardhan babu" userId="1f2a5f0938d943e7" providerId="LiveId" clId="{08BECE86-8B0E-4C53-88DC-28DA5EA62808}" dt="2026-09-26T06:11:28.499" v="39" actId="1076"/>
          <ac:picMkLst>
            <pc:docMk/>
            <pc:sldMk cId="0" sldId="261"/>
            <ac:picMk id="26" creationId="{5EAB0C71-FB5B-F5EE-1CE4-8D399455DD34}"/>
          </ac:picMkLst>
        </pc:picChg>
      </pc:sldChg>
      <pc:sldChg chg="addSp modSp mod">
        <pc:chgData name="kushangala vardhan babu" userId="1f2a5f0938d943e7" providerId="LiveId" clId="{08BECE86-8B0E-4C53-88DC-28DA5EA62808}" dt="2026-09-26T06:11:40.749" v="42" actId="1076"/>
        <pc:sldMkLst>
          <pc:docMk/>
          <pc:sldMk cId="0" sldId="262"/>
        </pc:sldMkLst>
        <pc:spChg chg="mod">
          <ac:chgData name="kushangala vardhan babu" userId="1f2a5f0938d943e7" providerId="LiveId" clId="{08BECE86-8B0E-4C53-88DC-28DA5EA62808}" dt="2026-09-26T06:11:06.015" v="22" actId="27636"/>
          <ac:spMkLst>
            <pc:docMk/>
            <pc:sldMk cId="0" sldId="262"/>
            <ac:spMk id="3" creationId="{00000000-0000-0000-0000-000000000000}"/>
          </ac:spMkLst>
        </pc:spChg>
        <pc:spChg chg="mod">
          <ac:chgData name="kushangala vardhan babu" userId="1f2a5f0938d943e7" providerId="LiveId" clId="{08BECE86-8B0E-4C53-88DC-28DA5EA62808}" dt="2026-09-26T06:11:06.007" v="21" actId="27636"/>
          <ac:spMkLst>
            <pc:docMk/>
            <pc:sldMk cId="0" sldId="262"/>
            <ac:spMk id="12" creationId="{00000000-0000-0000-0000-000000000000}"/>
          </ac:spMkLst>
        </pc:spChg>
        <pc:spChg chg="mod">
          <ac:chgData name="kushangala vardhan babu" userId="1f2a5f0938d943e7" providerId="LiveId" clId="{08BECE86-8B0E-4C53-88DC-28DA5EA62808}" dt="2026-09-26T06:11:06.020" v="23" actId="27636"/>
          <ac:spMkLst>
            <pc:docMk/>
            <pc:sldMk cId="0" sldId="262"/>
            <ac:spMk id="16" creationId="{00000000-0000-0000-0000-000000000000}"/>
          </ac:spMkLst>
        </pc:spChg>
        <pc:picChg chg="add mod">
          <ac:chgData name="kushangala vardhan babu" userId="1f2a5f0938d943e7" providerId="LiveId" clId="{08BECE86-8B0E-4C53-88DC-28DA5EA62808}" dt="2026-09-26T06:11:40.749" v="42" actId="1076"/>
          <ac:picMkLst>
            <pc:docMk/>
            <pc:sldMk cId="0" sldId="262"/>
            <ac:picMk id="23" creationId="{B571B53B-9A1F-1D09-8714-232A89AD85E6}"/>
          </ac:picMkLst>
        </pc:picChg>
      </pc:sldChg>
      <pc:sldChg chg="modSp mod">
        <pc:chgData name="kushangala vardhan babu" userId="1f2a5f0938d943e7" providerId="LiveId" clId="{08BECE86-8B0E-4C53-88DC-28DA5EA62808}" dt="2026-09-26T06:11:06.030" v="24" actId="27636"/>
        <pc:sldMkLst>
          <pc:docMk/>
          <pc:sldMk cId="0" sldId="263"/>
        </pc:sldMkLst>
        <pc:spChg chg="mod">
          <ac:chgData name="kushangala vardhan babu" userId="1f2a5f0938d943e7" providerId="LiveId" clId="{08BECE86-8B0E-4C53-88DC-28DA5EA62808}" dt="2026-09-26T06:11:06.030" v="24" actId="27636"/>
          <ac:spMkLst>
            <pc:docMk/>
            <pc:sldMk cId="0" sldId="263"/>
            <ac:spMk id="4" creationId="{00000000-0000-0000-0000-000000000000}"/>
          </ac:spMkLst>
        </pc:spChg>
      </pc:sldChg>
      <pc:sldChg chg="modSp mod">
        <pc:chgData name="kushangala vardhan babu" userId="1f2a5f0938d943e7" providerId="LiveId" clId="{08BECE86-8B0E-4C53-88DC-28DA5EA62808}" dt="2026-09-26T06:11:06.065" v="29" actId="27636"/>
        <pc:sldMkLst>
          <pc:docMk/>
          <pc:sldMk cId="0" sldId="264"/>
        </pc:sldMkLst>
        <pc:spChg chg="mod">
          <ac:chgData name="kushangala vardhan babu" userId="1f2a5f0938d943e7" providerId="LiveId" clId="{08BECE86-8B0E-4C53-88DC-28DA5EA62808}" dt="2026-09-26T06:11:06.046" v="25" actId="27636"/>
          <ac:spMkLst>
            <pc:docMk/>
            <pc:sldMk cId="0" sldId="264"/>
            <ac:spMk id="3" creationId="{00000000-0000-0000-0000-000000000000}"/>
          </ac:spMkLst>
        </pc:spChg>
        <pc:spChg chg="mod">
          <ac:chgData name="kushangala vardhan babu" userId="1f2a5f0938d943e7" providerId="LiveId" clId="{08BECE86-8B0E-4C53-88DC-28DA5EA62808}" dt="2026-09-26T06:11:06.055" v="27" actId="27636"/>
          <ac:spMkLst>
            <pc:docMk/>
            <pc:sldMk cId="0" sldId="264"/>
            <ac:spMk id="5" creationId="{00000000-0000-0000-0000-000000000000}"/>
          </ac:spMkLst>
        </pc:spChg>
        <pc:spChg chg="mod">
          <ac:chgData name="kushangala vardhan babu" userId="1f2a5f0938d943e7" providerId="LiveId" clId="{08BECE86-8B0E-4C53-88DC-28DA5EA62808}" dt="2026-09-26T06:11:06.052" v="26" actId="27636"/>
          <ac:spMkLst>
            <pc:docMk/>
            <pc:sldMk cId="0" sldId="264"/>
            <ac:spMk id="8" creationId="{00000000-0000-0000-0000-000000000000}"/>
          </ac:spMkLst>
        </pc:spChg>
        <pc:spChg chg="mod">
          <ac:chgData name="kushangala vardhan babu" userId="1f2a5f0938d943e7" providerId="LiveId" clId="{08BECE86-8B0E-4C53-88DC-28DA5EA62808}" dt="2026-09-26T06:11:06.065" v="29" actId="27636"/>
          <ac:spMkLst>
            <pc:docMk/>
            <pc:sldMk cId="0" sldId="264"/>
            <ac:spMk id="11" creationId="{00000000-0000-0000-0000-000000000000}"/>
          </ac:spMkLst>
        </pc:spChg>
        <pc:spChg chg="mod">
          <ac:chgData name="kushangala vardhan babu" userId="1f2a5f0938d943e7" providerId="LiveId" clId="{08BECE86-8B0E-4C53-88DC-28DA5EA62808}" dt="2026-09-26T06:11:06.061" v="28" actId="27636"/>
          <ac:spMkLst>
            <pc:docMk/>
            <pc:sldMk cId="0" sldId="264"/>
            <ac:spMk id="14" creationId="{00000000-0000-0000-0000-000000000000}"/>
          </ac:spMkLst>
        </pc:spChg>
      </pc:sldChg>
      <pc:sldChg chg="addSp modSp mod">
        <pc:chgData name="kushangala vardhan babu" userId="1f2a5f0938d943e7" providerId="LiveId" clId="{08BECE86-8B0E-4C53-88DC-28DA5EA62808}" dt="2026-09-26T06:13:25.851" v="45" actId="1076"/>
        <pc:sldMkLst>
          <pc:docMk/>
          <pc:sldMk cId="0" sldId="265"/>
        </pc:sldMkLst>
        <pc:spChg chg="mod">
          <ac:chgData name="kushangala vardhan babu" userId="1f2a5f0938d943e7" providerId="LiveId" clId="{08BECE86-8B0E-4C53-88DC-28DA5EA62808}" dt="2026-09-26T06:11:06.098" v="30" actId="27636"/>
          <ac:spMkLst>
            <pc:docMk/>
            <pc:sldMk cId="0" sldId="265"/>
            <ac:spMk id="3" creationId="{00000000-0000-0000-0000-000000000000}"/>
          </ac:spMkLst>
        </pc:spChg>
        <pc:picChg chg="add mod">
          <ac:chgData name="kushangala vardhan babu" userId="1f2a5f0938d943e7" providerId="LiveId" clId="{08BECE86-8B0E-4C53-88DC-28DA5EA62808}" dt="2026-09-26T06:13:25.851" v="45" actId="1076"/>
          <ac:picMkLst>
            <pc:docMk/>
            <pc:sldMk cId="0" sldId="265"/>
            <ac:picMk id="7" creationId="{4250CEC8-DD38-CC6F-AF38-396AF715EE1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9790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ASR-Cyber-Lab is a defensive platform for authorized security auditing, reconnaissance, and risk reduction. It turns approved scans into traceable findings and remediation actions.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simply finding an open port. It is connecting an authorized target to observed services, a contextual risk decision, and an evidence-backed remediation record.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starts with authorization, not scanning. It then automates reconnaissance and configuration analysis before turning observations into prioritized, exportable remediation evidence.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tier has a clear responsibility. The frontend presents findings, the gateway governs access, the security engine gathers and enriches observations, and the data layer preserves evidence for reporting.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begins by validating scope and ends by preserving a tamper-evident audit record. Every scan is asynchronous, non-destructive, and tied to an authorized target.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favors a typed frontend, an API-first Python backend, established reconnaissance tooling, and portable containerized infrastructure. Each layer can evolve without coupling the SOC experience to core scan execution.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ASR-Cyber-Lab is defensive by design. Authentication, role-aware permissions, approved scan profiles, contextual scoring, and exportable evidence keep the platform focused on authorized risk reduction.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demonstration used localhost, 127.0.0.1, with the Standard reconnaissance profile. It identified one active host, port 8000 over TCP, and an HTTP service running Uvicorn. The observed banner disclosure was scored informational at 5.0 out of 100, with JSON telemetry and an executive PDF generated.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SOC experience is intentionally decoupled from backend security logic. It can present telemetry, interactive visualizations, particle networks, radar rings, and cursor interactions without changing the reliability or authorization boundaries of scan execution.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platform already connects reconnaissance to risk visibility in one defensive workflow. The roadmap expands that foundation with LLM remediation explanations, live CVE and threat-intelligence enrichment, continuous monitoring, cloud discovery across AWS, GCP, and Azure, and SIEM or SOC webhooks.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0913"/>
          </a:solidFill>
          <a:ln/>
        </p:spPr>
      </p:sp>
      <p:sp>
        <p:nvSpPr>
          <p:cNvPr id="3" name="Shape 1"/>
          <p:cNvSpPr/>
          <p:nvPr/>
        </p:nvSpPr>
        <p:spPr>
          <a:xfrm>
            <a:off x="0" y="0"/>
            <a:ext cx="12191695" cy="6858000"/>
          </a:xfrm>
          <a:prstGeom prst="rect">
            <a:avLst/>
          </a:prstGeom>
          <a:solidFill>
            <a:srgbClr val="0B1120"/>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0913"/>
          </a:solidFill>
          <a:ln/>
        </p:spPr>
      </p:sp>
      <p:sp>
        <p:nvSpPr>
          <p:cNvPr id="3" name="Shape 1"/>
          <p:cNvSpPr/>
          <p:nvPr/>
        </p:nvSpPr>
        <p:spPr>
          <a:xfrm>
            <a:off x="0" y="0"/>
            <a:ext cx="12191695" cy="6858000"/>
          </a:xfrm>
          <a:prstGeom prst="rect">
            <a:avLst/>
          </a:prstGeom>
          <a:solidFill>
            <a:srgbClr val="0B1120"/>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0913"/>
          </a:solidFill>
          <a:ln/>
        </p:spPr>
      </p:sp>
      <p:sp>
        <p:nvSpPr>
          <p:cNvPr id="3" name="Shape 1"/>
          <p:cNvSpPr/>
          <p:nvPr/>
        </p:nvSpPr>
        <p:spPr>
          <a:xfrm>
            <a:off x="0" y="0"/>
            <a:ext cx="12191695" cy="6858000"/>
          </a:xfrm>
          <a:prstGeom prst="rect">
            <a:avLst/>
          </a:prstGeom>
          <a:solidFill>
            <a:srgbClr val="0B1120"/>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2819400"/>
            <a:ext cx="6680033" cy="3022600"/>
          </a:xfrm>
          <a:prstGeom prst="rect">
            <a:avLst/>
          </a:prstGeom>
          <a:solidFill>
            <a:srgbClr val="0B1120"/>
          </a:solidFill>
          <a:ln/>
        </p:spPr>
      </p:sp>
      <p:sp>
        <p:nvSpPr>
          <p:cNvPr id="3" name="Text 1"/>
          <p:cNvSpPr/>
          <p:nvPr/>
        </p:nvSpPr>
        <p:spPr>
          <a:xfrm>
            <a:off x="990575" y="3149600"/>
            <a:ext cx="6527637"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DEFENSIVE SECURITY PLATFORM · AUTHORIZED AUDITING</a:t>
            </a:r>
            <a:endParaRPr lang="en-US" sz="1100" dirty="0"/>
          </a:p>
        </p:txBody>
      </p:sp>
      <p:sp>
        <p:nvSpPr>
          <p:cNvPr id="4" name="Text 2"/>
          <p:cNvSpPr/>
          <p:nvPr/>
        </p:nvSpPr>
        <p:spPr>
          <a:xfrm>
            <a:off x="990575" y="3409950"/>
            <a:ext cx="5918052" cy="603250"/>
          </a:xfrm>
          <a:prstGeom prst="rect">
            <a:avLst/>
          </a:prstGeom>
          <a:noFill/>
          <a:ln/>
        </p:spPr>
        <p:txBody>
          <a:bodyPr wrap="none" lIns="0" tIns="0" rIns="0" bIns="0" rtlCol="0" anchor="t"/>
          <a:lstStyle/>
          <a:p>
            <a:pPr marL="0" indent="0" algn="l">
              <a:lnSpc>
                <a:spcPct val="79000"/>
              </a:lnSpc>
              <a:buNone/>
            </a:pPr>
            <a:r>
              <a:rPr lang="en-US" sz="5000" kern="0" spc="25" dirty="0">
                <a:solidFill>
                  <a:srgbClr val="FFFFFF"/>
                </a:solidFill>
                <a:latin typeface="Space Grotesk" pitchFamily="34" charset="0"/>
                <a:ea typeface="Space Grotesk" pitchFamily="34" charset="-122"/>
                <a:cs typeface="Space Grotesk" pitchFamily="34" charset="-120"/>
              </a:rPr>
              <a:t>ASR-Cyber-Lab</a:t>
            </a:r>
            <a:endParaRPr lang="en-US" sz="5000" dirty="0"/>
          </a:p>
        </p:txBody>
      </p:sp>
      <p:sp>
        <p:nvSpPr>
          <p:cNvPr id="5" name="Text 3"/>
          <p:cNvSpPr/>
          <p:nvPr/>
        </p:nvSpPr>
        <p:spPr>
          <a:xfrm>
            <a:off x="990575" y="4229100"/>
            <a:ext cx="5918052"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Automated Security Reconnaissance &amp; Attack-Surface Reduction Platform.</a:t>
            </a:r>
            <a:endParaRPr lang="en-US" sz="1700" dirty="0"/>
          </a:p>
        </p:txBody>
      </p:sp>
      <p:sp>
        <p:nvSpPr>
          <p:cNvPr id="6" name="Text 4"/>
          <p:cNvSpPr/>
          <p:nvPr/>
        </p:nvSpPr>
        <p:spPr>
          <a:xfrm>
            <a:off x="990575" y="5005586"/>
            <a:ext cx="5918052" cy="454025"/>
          </a:xfrm>
          <a:prstGeom prst="rect">
            <a:avLst/>
          </a:prstGeom>
          <a:noFill/>
          <a:ln/>
        </p:spPr>
        <p:txBody>
          <a:bodyPr wrap="square" lIns="0" tIns="0" rIns="0" bIns="0" rtlCol="0" anchor="t">
            <a:normAutofit/>
          </a:bodyPr>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RECONNAISSANCE · RISK REDUCTION · AUDIT TRAILS</a:t>
            </a:r>
            <a:endParaRPr lang="en-US" sz="1100" dirty="0"/>
          </a:p>
        </p:txBody>
      </p:sp>
      <p:pic>
        <p:nvPicPr>
          <p:cNvPr id="10" name="Picture 9">
            <a:extLst>
              <a:ext uri="{FF2B5EF4-FFF2-40B4-BE49-F238E27FC236}">
                <a16:creationId xmlns:a16="http://schemas.microsoft.com/office/drawing/2014/main" id="{19571A5E-D913-E858-E4A8-30EE85EFE16F}"/>
              </a:ext>
            </a:extLst>
          </p:cNvPr>
          <p:cNvPicPr>
            <a:picLocks noChangeAspect="1"/>
          </p:cNvPicPr>
          <p:nvPr/>
        </p:nvPicPr>
        <p:blipFill>
          <a:blip r:embed="rId3"/>
          <a:stretch>
            <a:fillRect/>
          </a:stretch>
        </p:blipFill>
        <p:spPr>
          <a:xfrm>
            <a:off x="10294696" y="6439180"/>
            <a:ext cx="1828958" cy="35817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THE VISIBILITY GAP</a:t>
            </a:r>
            <a:endParaRPr lang="en-US" sz="1100" dirty="0"/>
          </a:p>
        </p:txBody>
      </p:sp>
      <p:sp>
        <p:nvSpPr>
          <p:cNvPr id="3" name="Text 1"/>
          <p:cNvSpPr/>
          <p:nvPr/>
        </p:nvSpPr>
        <p:spPr>
          <a:xfrm>
            <a:off x="609585" y="869950"/>
            <a:ext cx="10972526" cy="723900"/>
          </a:xfrm>
          <a:prstGeom prst="rect">
            <a:avLst/>
          </a:prstGeom>
          <a:noFill/>
          <a:ln/>
        </p:spPr>
        <p:txBody>
          <a:bodyPr wrap="square" lIns="0" tIns="0" rIns="0" bIns="0" rtlCol="0" anchor="t">
            <a:normAutofit lnSpcReduction="10000"/>
          </a:bodyPr>
          <a:lstStyle/>
          <a:p>
            <a:pPr marL="0" indent="0" algn="l">
              <a:lnSpc>
                <a:spcPct val="79000"/>
              </a:lnSpc>
              <a:buNone/>
            </a:pPr>
            <a:r>
              <a:rPr lang="en-US" sz="3000" kern="0" spc="15" dirty="0">
                <a:solidFill>
                  <a:srgbClr val="F4F5FA"/>
                </a:solidFill>
                <a:latin typeface="Space Grotesk" pitchFamily="34" charset="0"/>
                <a:ea typeface="Space Grotesk" pitchFamily="34" charset="-122"/>
                <a:cs typeface="Space Grotesk" pitchFamily="34" charset="-120"/>
              </a:rPr>
              <a:t>The attack surface becomes a blindspot when discovery, context, and proof disconnect.</a:t>
            </a:r>
            <a:endParaRPr lang="en-US" sz="3000" dirty="0"/>
          </a:p>
        </p:txBody>
      </p:sp>
      <p:sp>
        <p:nvSpPr>
          <p:cNvPr id="4" name="Shape 2"/>
          <p:cNvSpPr/>
          <p:nvPr/>
        </p:nvSpPr>
        <p:spPr>
          <a:xfrm>
            <a:off x="609585" y="2583458"/>
            <a:ext cx="2628834" cy="2477393"/>
          </a:xfrm>
          <a:prstGeom prst="rect">
            <a:avLst/>
          </a:prstGeom>
          <a:solidFill>
            <a:srgbClr val="111B30"/>
          </a:solidFill>
          <a:ln/>
        </p:spPr>
      </p:sp>
      <p:sp>
        <p:nvSpPr>
          <p:cNvPr id="5" name="Text 3"/>
          <p:cNvSpPr/>
          <p:nvPr/>
        </p:nvSpPr>
        <p:spPr>
          <a:xfrm>
            <a:off x="838179" y="2812058"/>
            <a:ext cx="851672" cy="215900"/>
          </a:xfrm>
          <a:prstGeom prst="rect">
            <a:avLst/>
          </a:prstGeom>
          <a:noFill/>
          <a:ln/>
        </p:spPr>
        <p:txBody>
          <a:bodyPr wrap="none" lIns="0" tIns="0" rIns="0" bIns="0" rtlCol="0" anchor="t"/>
          <a:lstStyle/>
          <a:p>
            <a:pPr marL="0" indent="0" algn="l">
              <a:lnSpc>
                <a:spcPct val="83000"/>
              </a:lnSpc>
              <a:buNone/>
            </a:pPr>
            <a:r>
              <a:rPr lang="en-US" sz="1700" b="1" dirty="0">
                <a:solidFill>
                  <a:srgbClr val="FFFFFF"/>
                </a:solidFill>
                <a:latin typeface="Hubot Sans Bold" pitchFamily="34" charset="0"/>
                <a:ea typeface="Hubot Sans Bold" pitchFamily="34" charset="-122"/>
                <a:cs typeface="Hubot Sans Bold" pitchFamily="34" charset="-120"/>
              </a:rPr>
              <a:t>01</a:t>
            </a:r>
            <a:endParaRPr lang="en-US" sz="1700" dirty="0"/>
          </a:p>
        </p:txBody>
      </p:sp>
      <p:sp>
        <p:nvSpPr>
          <p:cNvPr id="6" name="Shape 4"/>
          <p:cNvSpPr/>
          <p:nvPr/>
        </p:nvSpPr>
        <p:spPr>
          <a:xfrm>
            <a:off x="838179" y="3114278"/>
            <a:ext cx="2171646" cy="19050"/>
          </a:xfrm>
          <a:prstGeom prst="rect">
            <a:avLst/>
          </a:prstGeom>
          <a:solidFill>
            <a:srgbClr val="00E5FF"/>
          </a:solidFill>
          <a:ln/>
        </p:spPr>
      </p:sp>
      <p:sp>
        <p:nvSpPr>
          <p:cNvPr id="7" name="Text 5"/>
          <p:cNvSpPr/>
          <p:nvPr/>
        </p:nvSpPr>
        <p:spPr>
          <a:xfrm>
            <a:off x="838179" y="3262809"/>
            <a:ext cx="2171646"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Target</a:t>
            </a:r>
            <a:endParaRPr lang="en-US" sz="1700" dirty="0"/>
          </a:p>
        </p:txBody>
      </p:sp>
      <p:sp>
        <p:nvSpPr>
          <p:cNvPr id="8" name="Text 6"/>
          <p:cNvSpPr/>
          <p:nvPr/>
        </p:nvSpPr>
        <p:spPr>
          <a:xfrm>
            <a:off x="838179" y="3666629"/>
            <a:ext cx="2171646"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Dynamic asset sprawl obscures exposed hosts.</a:t>
            </a:r>
            <a:endParaRPr lang="en-US" sz="1700" dirty="0"/>
          </a:p>
        </p:txBody>
      </p:sp>
      <p:sp>
        <p:nvSpPr>
          <p:cNvPr id="9" name="Shape 7"/>
          <p:cNvSpPr/>
          <p:nvPr/>
        </p:nvSpPr>
        <p:spPr>
          <a:xfrm>
            <a:off x="3390815" y="2583458"/>
            <a:ext cx="2628834" cy="2477393"/>
          </a:xfrm>
          <a:prstGeom prst="rect">
            <a:avLst/>
          </a:prstGeom>
          <a:solidFill>
            <a:srgbClr val="111B30"/>
          </a:solidFill>
          <a:ln/>
        </p:spPr>
      </p:sp>
      <p:sp>
        <p:nvSpPr>
          <p:cNvPr id="10" name="Text 8"/>
          <p:cNvSpPr/>
          <p:nvPr/>
        </p:nvSpPr>
        <p:spPr>
          <a:xfrm>
            <a:off x="3619409" y="2812058"/>
            <a:ext cx="896816" cy="215900"/>
          </a:xfrm>
          <a:prstGeom prst="rect">
            <a:avLst/>
          </a:prstGeom>
          <a:noFill/>
          <a:ln/>
        </p:spPr>
        <p:txBody>
          <a:bodyPr wrap="none" lIns="0" tIns="0" rIns="0" bIns="0" rtlCol="0" anchor="t"/>
          <a:lstStyle/>
          <a:p>
            <a:pPr marL="0" indent="0" algn="l">
              <a:lnSpc>
                <a:spcPct val="83000"/>
              </a:lnSpc>
              <a:buNone/>
            </a:pPr>
            <a:r>
              <a:rPr lang="en-US" sz="1700" b="1" dirty="0">
                <a:solidFill>
                  <a:srgbClr val="FFFFFF"/>
                </a:solidFill>
                <a:latin typeface="Hubot Sans Bold" pitchFamily="34" charset="0"/>
                <a:ea typeface="Hubot Sans Bold" pitchFamily="34" charset="-122"/>
                <a:cs typeface="Hubot Sans Bold" pitchFamily="34" charset="-120"/>
              </a:rPr>
              <a:t>02</a:t>
            </a:r>
            <a:endParaRPr lang="en-US" sz="1700" dirty="0"/>
          </a:p>
        </p:txBody>
      </p:sp>
      <p:sp>
        <p:nvSpPr>
          <p:cNvPr id="11" name="Shape 9"/>
          <p:cNvSpPr/>
          <p:nvPr/>
        </p:nvSpPr>
        <p:spPr>
          <a:xfrm>
            <a:off x="3619409" y="3114278"/>
            <a:ext cx="2171646" cy="19050"/>
          </a:xfrm>
          <a:prstGeom prst="rect">
            <a:avLst/>
          </a:prstGeom>
          <a:solidFill>
            <a:srgbClr val="00E5FF"/>
          </a:solidFill>
          <a:ln/>
        </p:spPr>
      </p:sp>
      <p:sp>
        <p:nvSpPr>
          <p:cNvPr id="12" name="Text 10"/>
          <p:cNvSpPr/>
          <p:nvPr/>
        </p:nvSpPr>
        <p:spPr>
          <a:xfrm>
            <a:off x="3619409" y="3262809"/>
            <a:ext cx="2171646"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Exposed services</a:t>
            </a:r>
            <a:endParaRPr lang="en-US" sz="1700" dirty="0"/>
          </a:p>
        </p:txBody>
      </p:sp>
      <p:sp>
        <p:nvSpPr>
          <p:cNvPr id="13" name="Text 11"/>
          <p:cNvSpPr/>
          <p:nvPr/>
        </p:nvSpPr>
        <p:spPr>
          <a:xfrm>
            <a:off x="3619409" y="3666629"/>
            <a:ext cx="2171646"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Manual reconnaissance creates missed ports and live services.</a:t>
            </a:r>
            <a:endParaRPr lang="en-US" sz="1700" dirty="0"/>
          </a:p>
        </p:txBody>
      </p:sp>
      <p:sp>
        <p:nvSpPr>
          <p:cNvPr id="14" name="Shape 12"/>
          <p:cNvSpPr/>
          <p:nvPr/>
        </p:nvSpPr>
        <p:spPr>
          <a:xfrm>
            <a:off x="6172046" y="2583458"/>
            <a:ext cx="2628834" cy="2477393"/>
          </a:xfrm>
          <a:prstGeom prst="rect">
            <a:avLst/>
          </a:prstGeom>
          <a:solidFill>
            <a:srgbClr val="111B30"/>
          </a:solidFill>
          <a:ln/>
        </p:spPr>
      </p:sp>
      <p:sp>
        <p:nvSpPr>
          <p:cNvPr id="15" name="Text 13"/>
          <p:cNvSpPr/>
          <p:nvPr/>
        </p:nvSpPr>
        <p:spPr>
          <a:xfrm>
            <a:off x="6400640" y="2812058"/>
            <a:ext cx="897411" cy="215900"/>
          </a:xfrm>
          <a:prstGeom prst="rect">
            <a:avLst/>
          </a:prstGeom>
          <a:noFill/>
          <a:ln/>
        </p:spPr>
        <p:txBody>
          <a:bodyPr wrap="none" lIns="0" tIns="0" rIns="0" bIns="0" rtlCol="0" anchor="t"/>
          <a:lstStyle/>
          <a:p>
            <a:pPr marL="0" indent="0" algn="l">
              <a:lnSpc>
                <a:spcPct val="83000"/>
              </a:lnSpc>
              <a:buNone/>
            </a:pPr>
            <a:r>
              <a:rPr lang="en-US" sz="1700" b="1" dirty="0">
                <a:solidFill>
                  <a:srgbClr val="FFFFFF"/>
                </a:solidFill>
                <a:latin typeface="Hubot Sans Bold" pitchFamily="34" charset="0"/>
                <a:ea typeface="Hubot Sans Bold" pitchFamily="34" charset="-122"/>
                <a:cs typeface="Hubot Sans Bold" pitchFamily="34" charset="-120"/>
              </a:rPr>
              <a:t>03</a:t>
            </a:r>
            <a:endParaRPr lang="en-US" sz="1700" dirty="0"/>
          </a:p>
        </p:txBody>
      </p:sp>
      <p:sp>
        <p:nvSpPr>
          <p:cNvPr id="16" name="Shape 14"/>
          <p:cNvSpPr/>
          <p:nvPr/>
        </p:nvSpPr>
        <p:spPr>
          <a:xfrm>
            <a:off x="6400640" y="3114278"/>
            <a:ext cx="2171646" cy="19050"/>
          </a:xfrm>
          <a:prstGeom prst="rect">
            <a:avLst/>
          </a:prstGeom>
          <a:solidFill>
            <a:srgbClr val="00E5FF"/>
          </a:solidFill>
          <a:ln/>
        </p:spPr>
      </p:sp>
      <p:sp>
        <p:nvSpPr>
          <p:cNvPr id="17" name="Text 15"/>
          <p:cNvSpPr/>
          <p:nvPr/>
        </p:nvSpPr>
        <p:spPr>
          <a:xfrm>
            <a:off x="6400640" y="3262809"/>
            <a:ext cx="2171646"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Security risk</a:t>
            </a:r>
            <a:endParaRPr lang="en-US" sz="1700" dirty="0"/>
          </a:p>
        </p:txBody>
      </p:sp>
      <p:sp>
        <p:nvSpPr>
          <p:cNvPr id="18" name="Text 16"/>
          <p:cNvSpPr/>
          <p:nvPr/>
        </p:nvSpPr>
        <p:spPr>
          <a:xfrm>
            <a:off x="6400640" y="3666629"/>
            <a:ext cx="2171646"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Alert volume arrives without contextual severity scoring.</a:t>
            </a:r>
            <a:endParaRPr lang="en-US" sz="1700" dirty="0"/>
          </a:p>
        </p:txBody>
      </p:sp>
      <p:sp>
        <p:nvSpPr>
          <p:cNvPr id="19" name="Shape 17"/>
          <p:cNvSpPr/>
          <p:nvPr/>
        </p:nvSpPr>
        <p:spPr>
          <a:xfrm>
            <a:off x="8953276" y="2583458"/>
            <a:ext cx="2628834" cy="2477393"/>
          </a:xfrm>
          <a:prstGeom prst="rect">
            <a:avLst/>
          </a:prstGeom>
          <a:solidFill>
            <a:srgbClr val="111B30"/>
          </a:solidFill>
          <a:ln/>
        </p:spPr>
      </p:sp>
      <p:sp>
        <p:nvSpPr>
          <p:cNvPr id="20" name="Text 18"/>
          <p:cNvSpPr/>
          <p:nvPr/>
        </p:nvSpPr>
        <p:spPr>
          <a:xfrm>
            <a:off x="9181870" y="2812058"/>
            <a:ext cx="911698" cy="215900"/>
          </a:xfrm>
          <a:prstGeom prst="rect">
            <a:avLst/>
          </a:prstGeom>
          <a:noFill/>
          <a:ln/>
        </p:spPr>
        <p:txBody>
          <a:bodyPr wrap="none" lIns="0" tIns="0" rIns="0" bIns="0" rtlCol="0" anchor="t"/>
          <a:lstStyle/>
          <a:p>
            <a:pPr marL="0" indent="0" algn="l">
              <a:lnSpc>
                <a:spcPct val="83000"/>
              </a:lnSpc>
              <a:buNone/>
            </a:pPr>
            <a:r>
              <a:rPr lang="en-US" sz="1700" b="1" dirty="0">
                <a:solidFill>
                  <a:srgbClr val="FFFFFF"/>
                </a:solidFill>
                <a:latin typeface="Hubot Sans Bold" pitchFamily="34" charset="0"/>
                <a:ea typeface="Hubot Sans Bold" pitchFamily="34" charset="-122"/>
                <a:cs typeface="Hubot Sans Bold" pitchFamily="34" charset="-120"/>
              </a:rPr>
              <a:t>04</a:t>
            </a:r>
            <a:endParaRPr lang="en-US" sz="1700" dirty="0"/>
          </a:p>
        </p:txBody>
      </p:sp>
      <p:sp>
        <p:nvSpPr>
          <p:cNvPr id="21" name="Shape 19"/>
          <p:cNvSpPr/>
          <p:nvPr/>
        </p:nvSpPr>
        <p:spPr>
          <a:xfrm>
            <a:off x="9181870" y="3114278"/>
            <a:ext cx="2171646" cy="19050"/>
          </a:xfrm>
          <a:prstGeom prst="rect">
            <a:avLst/>
          </a:prstGeom>
          <a:solidFill>
            <a:srgbClr val="00E5FF"/>
          </a:solidFill>
          <a:ln/>
        </p:spPr>
      </p:sp>
      <p:sp>
        <p:nvSpPr>
          <p:cNvPr id="22" name="Text 20"/>
          <p:cNvSpPr/>
          <p:nvPr/>
        </p:nvSpPr>
        <p:spPr>
          <a:xfrm>
            <a:off x="9181870" y="3262809"/>
            <a:ext cx="2171646"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Remediation</a:t>
            </a:r>
            <a:endParaRPr lang="en-US" sz="1700" dirty="0"/>
          </a:p>
        </p:txBody>
      </p:sp>
      <p:sp>
        <p:nvSpPr>
          <p:cNvPr id="23" name="Text 21"/>
          <p:cNvSpPr/>
          <p:nvPr/>
        </p:nvSpPr>
        <p:spPr>
          <a:xfrm>
            <a:off x="9181870" y="3666629"/>
            <a:ext cx="2171646"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Auditability requires structured, verifiable evidence.</a:t>
            </a:r>
            <a:endParaRPr lang="en-US" sz="1700" dirty="0"/>
          </a:p>
        </p:txBody>
      </p:sp>
      <p:sp>
        <p:nvSpPr>
          <p:cNvPr id="24" name="Text 22"/>
          <p:cNvSpPr/>
          <p:nvPr/>
        </p:nvSpPr>
        <p:spPr>
          <a:xfrm>
            <a:off x="609585" y="6041128"/>
            <a:ext cx="11582110" cy="198041"/>
          </a:xfrm>
          <a:prstGeom prst="rect">
            <a:avLst/>
          </a:prstGeom>
          <a:noFill/>
          <a:ln/>
        </p:spPr>
        <p:txBody>
          <a:bodyPr wrap="none" lIns="0" tIns="0" rIns="0" bIns="0" rtlCol="0" anchor="t"/>
          <a:lstStyle/>
          <a:p>
            <a:pPr marL="0" indent="0" algn="l">
              <a:lnSpc>
                <a:spcPct val="108000"/>
              </a:lnSpc>
              <a:buNone/>
            </a:pPr>
            <a:r>
              <a:rPr lang="en-US" sz="1200" kern="0" spc="96" dirty="0">
                <a:solidFill>
                  <a:srgbClr val="E2E8E4"/>
                </a:solidFill>
                <a:latin typeface="Martian Mono" pitchFamily="34" charset="0"/>
                <a:ea typeface="Martian Mono" pitchFamily="34" charset="-122"/>
                <a:cs typeface="Martian Mono" pitchFamily="34" charset="-120"/>
              </a:rPr>
              <a:t>VISIBILITY MUST PROGRESS FROM AUTHORIZED TARGET TO ACTIONABLE REMEDIATION.</a:t>
            </a:r>
            <a:endParaRPr lang="en-US" sz="1200" dirty="0"/>
          </a:p>
        </p:txBody>
      </p:sp>
      <p:pic>
        <p:nvPicPr>
          <p:cNvPr id="26" name="Picture 25">
            <a:extLst>
              <a:ext uri="{FF2B5EF4-FFF2-40B4-BE49-F238E27FC236}">
                <a16:creationId xmlns:a16="http://schemas.microsoft.com/office/drawing/2014/main" id="{3BDAE48E-A9AF-1AA1-75ED-E302ECDF3CDE}"/>
              </a:ext>
            </a:extLst>
          </p:cNvPr>
          <p:cNvPicPr>
            <a:picLocks noChangeAspect="1"/>
          </p:cNvPicPr>
          <p:nvPr/>
        </p:nvPicPr>
        <p:blipFill>
          <a:blip r:embed="rId3"/>
          <a:stretch>
            <a:fillRect/>
          </a:stretch>
        </p:blipFill>
        <p:spPr>
          <a:xfrm>
            <a:off x="10348587" y="6499829"/>
            <a:ext cx="1828958" cy="3581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SOLUTION ARCHITECTURE</a:t>
            </a:r>
            <a:endParaRPr lang="en-US" sz="1100" dirty="0"/>
          </a:p>
        </p:txBody>
      </p:sp>
      <p:sp>
        <p:nvSpPr>
          <p:cNvPr id="3" name="Text 1"/>
          <p:cNvSpPr/>
          <p:nvPr/>
        </p:nvSpPr>
        <p:spPr>
          <a:xfrm>
            <a:off x="609585" y="869950"/>
            <a:ext cx="10972526" cy="361950"/>
          </a:xfrm>
          <a:prstGeom prst="rect">
            <a:avLst/>
          </a:prstGeom>
          <a:noFill/>
          <a:ln/>
        </p:spPr>
        <p:txBody>
          <a:bodyPr wrap="none" lIns="0" tIns="0" rIns="0" bIns="0" rtlCol="0" anchor="t"/>
          <a:lstStyle/>
          <a:p>
            <a:pPr marL="0" indent="0" algn="l">
              <a:lnSpc>
                <a:spcPct val="79000"/>
              </a:lnSpc>
              <a:buNone/>
            </a:pPr>
            <a:r>
              <a:rPr lang="en-US" sz="3000" kern="0" spc="15" dirty="0">
                <a:solidFill>
                  <a:srgbClr val="F4F5FA"/>
                </a:solidFill>
                <a:latin typeface="Space Grotesk" pitchFamily="34" charset="0"/>
                <a:ea typeface="Space Grotesk" pitchFamily="34" charset="-122"/>
                <a:cs typeface="Space Grotesk" pitchFamily="34" charset="-120"/>
              </a:rPr>
              <a:t>ASR-Cyber-Lab Solution Architecture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09585" y="1447800"/>
          <a:ext cx="10972526" cy="3721899"/>
        </p:xfrm>
        <a:graphic>
          <a:graphicData uri="http://schemas.openxmlformats.org/drawingml/2006/table">
            <a:tbl>
              <a:tblPr/>
              <a:tblGrid>
                <a:gridCol w="3291758">
                  <a:extLst>
                    <a:ext uri="{9D8B030D-6E8A-4147-A177-3AD203B41FA5}">
                      <a16:colId xmlns:a16="http://schemas.microsoft.com/office/drawing/2014/main" val="20000"/>
                    </a:ext>
                  </a:extLst>
                </a:gridCol>
                <a:gridCol w="7680768">
                  <a:extLst>
                    <a:ext uri="{9D8B030D-6E8A-4147-A177-3AD203B41FA5}">
                      <a16:colId xmlns:a16="http://schemas.microsoft.com/office/drawing/2014/main" val="20001"/>
                    </a:ext>
                  </a:extLst>
                </a:gridCol>
              </a:tblGrid>
              <a:tr h="476734">
                <a:tc>
                  <a:txBody>
                    <a:bodyPr/>
                    <a:lstStyle/>
                    <a:p>
                      <a:pPr marL="0" indent="0" algn="l">
                        <a:buNone/>
                      </a:pPr>
                      <a:r>
                        <a:rPr lang="en-US" sz="1700" kern="0" spc="136" dirty="0">
                          <a:solidFill>
                            <a:srgbClr val="F4F5FA"/>
                          </a:solidFill>
                          <a:latin typeface="Hubot Sans" pitchFamily="34" charset="0"/>
                          <a:ea typeface="Hubot Sans" pitchFamily="34" charset="-122"/>
                          <a:cs typeface="Hubot Sans" pitchFamily="34" charset="-120"/>
                        </a:rPr>
                        <a:t>CAPABILITY</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0B1120"/>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tc>
                  <a:txBody>
                    <a:bodyPr/>
                    <a:lstStyle/>
                    <a:p>
                      <a:pPr marL="0" indent="0" algn="l">
                        <a:buNone/>
                      </a:pPr>
                      <a:r>
                        <a:rPr lang="en-US" sz="1700" kern="0" spc="136" dirty="0">
                          <a:solidFill>
                            <a:srgbClr val="F4F5FA"/>
                          </a:solidFill>
                          <a:latin typeface="Hubot Sans" pitchFamily="34" charset="0"/>
                          <a:ea typeface="Hubot Sans" pitchFamily="34" charset="-122"/>
                          <a:cs typeface="Hubot Sans" pitchFamily="34" charset="-120"/>
                        </a:rPr>
                        <a:t>WHAT IT DOES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0B1120"/>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0"/>
                  </a:ext>
                </a:extLst>
              </a:tr>
              <a:tr h="476734">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Target management</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tc>
                  <a:txBody>
                    <a:bodyPr/>
                    <a:lstStyle/>
                    <a:p>
                      <a:pPr marL="0" indent="0" algn="l">
                        <a:buNone/>
                      </a:pPr>
                      <a:r>
                        <a:rPr lang="en-US" sz="1700" dirty="0">
                          <a:solidFill>
                            <a:srgbClr val="DDE0EE"/>
                          </a:solidFill>
                          <a:latin typeface="Hubot Sans" pitchFamily="34" charset="0"/>
                          <a:ea typeface="Hubot Sans" pitchFamily="34" charset="-122"/>
                          <a:cs typeface="Hubot Sans" pitchFamily="34" charset="-120"/>
                        </a:rPr>
                        <a:t>Structured inventory with strict authorization safeguards.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1"/>
                  </a:ext>
                </a:extLst>
              </a:tr>
              <a:tr h="768132">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Automated reconnaissance</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tc>
                  <a:txBody>
                    <a:bodyPr/>
                    <a:lstStyle/>
                    <a:p>
                      <a:pPr marL="0" indent="0" algn="l">
                        <a:buNone/>
                      </a:pPr>
                      <a:r>
                        <a:rPr lang="en-US" sz="1700" dirty="0">
                          <a:solidFill>
                            <a:srgbClr val="DDE0EE"/>
                          </a:solidFill>
                          <a:latin typeface="Hubot Sans" pitchFamily="34" charset="0"/>
                          <a:ea typeface="Hubot Sans" pitchFamily="34" charset="-122"/>
                          <a:cs typeface="Hubot Sans" pitchFamily="34" charset="-120"/>
                        </a:rPr>
                        <a:t>Non-destructive Nmap scanning engine for rapid host and service fingerprinting.</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2"/>
                  </a:ext>
                </a:extLst>
              </a:tr>
              <a:tr h="768132">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Configuration analysis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tc>
                  <a:txBody>
                    <a:bodyPr/>
                    <a:lstStyle/>
                    <a:p>
                      <a:pPr marL="0" indent="0" algn="l">
                        <a:buNone/>
                      </a:pPr>
                      <a:r>
                        <a:rPr lang="en-US" sz="1700" dirty="0">
                          <a:solidFill>
                            <a:srgbClr val="DDE0EE"/>
                          </a:solidFill>
                          <a:latin typeface="Hubot Sans" pitchFamily="34" charset="0"/>
                          <a:ea typeface="Hubot Sans" pitchFamily="34" charset="-122"/>
                          <a:cs typeface="Hubot Sans" pitchFamily="34" charset="-120"/>
                        </a:rPr>
                        <a:t>Rule-based security evaluation identifying version disclosures and misconfigurations.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3"/>
                  </a:ext>
                </a:extLst>
              </a:tr>
              <a:tr h="476734">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Risk scoring engine</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tc>
                  <a:txBody>
                    <a:bodyPr/>
                    <a:lstStyle/>
                    <a:p>
                      <a:pPr marL="0" indent="0" algn="l">
                        <a:buNone/>
                      </a:pPr>
                      <a:r>
                        <a:rPr lang="en-US" sz="1700" dirty="0">
                          <a:solidFill>
                            <a:srgbClr val="DDE0EE"/>
                          </a:solidFill>
                          <a:latin typeface="Hubot Sans" pitchFamily="34" charset="0"/>
                          <a:ea typeface="Hubot Sans" pitchFamily="34" charset="-122"/>
                          <a:cs typeface="Hubot Sans" pitchFamily="34" charset="-120"/>
                        </a:rPr>
                        <a:t>Normalized algorithmic risk computation prioritizing critical exposures.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4"/>
                  </a:ext>
                </a:extLst>
              </a:tr>
              <a:tr h="755433">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Actionable remediation</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0B1120"/>
                      </a:solidFill>
                      <a:prstDash val="solid"/>
                      <a:round/>
                      <a:headEnd type="none" w="med" len="med"/>
                      <a:tailEnd type="none" w="med" len="med"/>
                    </a:lnB>
                  </a:tcPr>
                </a:tc>
                <a:tc>
                  <a:txBody>
                    <a:bodyPr/>
                    <a:lstStyle/>
                    <a:p>
                      <a:pPr marL="0" indent="0" algn="l">
                        <a:buNone/>
                      </a:pPr>
                      <a:r>
                        <a:rPr lang="en-US" sz="1700" dirty="0">
                          <a:solidFill>
                            <a:srgbClr val="DDE0EE"/>
                          </a:solidFill>
                          <a:latin typeface="Hubot Sans" pitchFamily="34" charset="0"/>
                          <a:ea typeface="Hubot Sans" pitchFamily="34" charset="-122"/>
                          <a:cs typeface="Hubot Sans" pitchFamily="34" charset="-120"/>
                        </a:rPr>
                        <a:t>Concrete fixes with exportable JSON/PDF reports and immutable audit trails.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0B112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0B112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6" name="Picture 5">
            <a:extLst>
              <a:ext uri="{FF2B5EF4-FFF2-40B4-BE49-F238E27FC236}">
                <a16:creationId xmlns:a16="http://schemas.microsoft.com/office/drawing/2014/main" id="{48AB1460-B9D7-6C76-6E06-CBD127B29C7E}"/>
              </a:ext>
            </a:extLst>
          </p:cNvPr>
          <p:cNvPicPr>
            <a:picLocks noChangeAspect="1"/>
          </p:cNvPicPr>
          <p:nvPr/>
        </p:nvPicPr>
        <p:blipFill>
          <a:blip r:embed="rId3"/>
          <a:stretch>
            <a:fillRect/>
          </a:stretch>
        </p:blipFill>
        <p:spPr>
          <a:xfrm>
            <a:off x="10362737" y="6422322"/>
            <a:ext cx="1828958" cy="3581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END-TO-END SYSTEM ARCHITECTURE</a:t>
            </a:r>
            <a:endParaRPr lang="en-US" sz="1100" dirty="0"/>
          </a:p>
        </p:txBody>
      </p:sp>
      <p:sp>
        <p:nvSpPr>
          <p:cNvPr id="3" name="Text 1"/>
          <p:cNvSpPr/>
          <p:nvPr/>
        </p:nvSpPr>
        <p:spPr>
          <a:xfrm>
            <a:off x="609585" y="869950"/>
            <a:ext cx="10972526" cy="361950"/>
          </a:xfrm>
          <a:prstGeom prst="rect">
            <a:avLst/>
          </a:prstGeom>
          <a:noFill/>
          <a:ln/>
        </p:spPr>
        <p:txBody>
          <a:bodyPr wrap="none" lIns="0" tIns="0" rIns="0" bIns="0" rtlCol="0" anchor="t"/>
          <a:lstStyle/>
          <a:p>
            <a:pPr marL="0" indent="0" algn="l">
              <a:lnSpc>
                <a:spcPct val="79000"/>
              </a:lnSpc>
              <a:buNone/>
            </a:pPr>
            <a:r>
              <a:rPr lang="en-US" sz="3000" kern="0" spc="15" dirty="0">
                <a:solidFill>
                  <a:srgbClr val="F4F5FA"/>
                </a:solidFill>
                <a:latin typeface="Space Grotesk" pitchFamily="34" charset="0"/>
                <a:ea typeface="Space Grotesk" pitchFamily="34" charset="-122"/>
                <a:cs typeface="Space Grotesk" pitchFamily="34" charset="-120"/>
              </a:rPr>
              <a:t>Five tiers: experience, control, analysis, risk, evidence.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1447800"/>
          <a:ext cx="10972526" cy="3827961"/>
        </p:xfrm>
        <a:graphic>
          <a:graphicData uri="http://schemas.openxmlformats.org/drawingml/2006/table">
            <a:tbl>
              <a:tblPr/>
              <a:tblGrid>
                <a:gridCol w="2413956">
                  <a:extLst>
                    <a:ext uri="{9D8B030D-6E8A-4147-A177-3AD203B41FA5}">
                      <a16:colId xmlns:a16="http://schemas.microsoft.com/office/drawing/2014/main" val="20000"/>
                    </a:ext>
                  </a:extLst>
                </a:gridCol>
                <a:gridCol w="8558570">
                  <a:extLst>
                    <a:ext uri="{9D8B030D-6E8A-4147-A177-3AD203B41FA5}">
                      <a16:colId xmlns:a16="http://schemas.microsoft.com/office/drawing/2014/main" val="20001"/>
                    </a:ext>
                  </a:extLst>
                </a:gridCol>
              </a:tblGrid>
              <a:tr h="768132">
                <a:tc>
                  <a:txBody>
                    <a:bodyPr/>
                    <a:lstStyle/>
                    <a:p>
                      <a:pPr marL="0" indent="0" algn="l">
                        <a:buNone/>
                      </a:pPr>
                      <a:r>
                        <a:rPr lang="en-US" sz="1100" kern="0" spc="88" dirty="0">
                          <a:solidFill>
                            <a:srgbClr val="FFFFFF"/>
                          </a:solidFill>
                          <a:latin typeface="Martian Mono" pitchFamily="34" charset="0"/>
                          <a:ea typeface="Martian Mono" pitchFamily="34" charset="-122"/>
                          <a:cs typeface="Martian Mono" pitchFamily="34" charset="-120"/>
                        </a:rPr>
                        <a:t>FRONTEND</a:t>
                      </a:r>
                      <a:endParaRPr lang="en-US" sz="1100" dirty="0">
                        <a:latin typeface="Martian Mono" charset="0"/>
                        <a:ea typeface="Martian Mono" charset="0"/>
                        <a:cs typeface="Martian Mono"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111B30"/>
                      </a:solidFill>
                      <a:prstDash val="solid"/>
                      <a:round/>
                      <a:headEnd type="none" w="med" len="med"/>
                      <a:tailEnd type="none" w="med" len="med"/>
                    </a:lnR>
                    <a:lnT w="12700" cap="flat" cmpd="sng" algn="ctr">
                      <a:solidFill>
                        <a:srgbClr val="111B30"/>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11B30"/>
                    </a:solidFill>
                  </a:tcPr>
                </a:tc>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React 18 · TypeScript · Tailwind CSS with Three.js HUD canvas and Recharts analytics.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0B1120"/>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0"/>
                  </a:ext>
                </a:extLst>
              </a:tr>
              <a:tr h="768132">
                <a:tc>
                  <a:txBody>
                    <a:bodyPr/>
                    <a:lstStyle/>
                    <a:p>
                      <a:pPr marL="0" indent="0" algn="l">
                        <a:buNone/>
                      </a:pPr>
                      <a:r>
                        <a:rPr lang="en-US" sz="1100" kern="0" spc="88" dirty="0">
                          <a:solidFill>
                            <a:srgbClr val="FFFFFF"/>
                          </a:solidFill>
                          <a:latin typeface="Martian Mono" pitchFamily="34" charset="0"/>
                          <a:ea typeface="Martian Mono" pitchFamily="34" charset="-122"/>
                          <a:cs typeface="Martian Mono" pitchFamily="34" charset="-120"/>
                        </a:rPr>
                        <a:t>API GATEWAY</a:t>
                      </a:r>
                      <a:endParaRPr lang="en-US" sz="1100" dirty="0">
                        <a:latin typeface="Martian Mono" charset="0"/>
                        <a:ea typeface="Martian Mono" charset="0"/>
                        <a:cs typeface="Martian Mono"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111B3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11B30"/>
                    </a:solidFill>
                  </a:tcPr>
                </a:tc>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Python FastAPI REST microservices protected by JWT authentication and RBAC authorization.</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1"/>
                  </a:ext>
                </a:extLst>
              </a:tr>
              <a:tr h="768132">
                <a:tc>
                  <a:txBody>
                    <a:bodyPr/>
                    <a:lstStyle/>
                    <a:p>
                      <a:pPr marL="0" indent="0" algn="l">
                        <a:buNone/>
                      </a:pPr>
                      <a:r>
                        <a:rPr lang="en-US" sz="1100" kern="0" spc="88" dirty="0">
                          <a:solidFill>
                            <a:srgbClr val="FFFFFF"/>
                          </a:solidFill>
                          <a:latin typeface="Martian Mono" pitchFamily="34" charset="0"/>
                          <a:ea typeface="Martian Mono" pitchFamily="34" charset="-122"/>
                          <a:cs typeface="Martian Mono" pitchFamily="34" charset="-120"/>
                        </a:rPr>
                        <a:t>SECURITY ENGINE</a:t>
                      </a:r>
                      <a:endParaRPr lang="en-US" sz="1100" dirty="0">
                        <a:latin typeface="Martian Mono" charset="0"/>
                        <a:ea typeface="Martian Mono" charset="0"/>
                        <a:cs typeface="Martian Mono"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111B3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11B30"/>
                    </a:solidFill>
                  </a:tcPr>
                </a:tc>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Scan orchestrator drives non-destructive Nmap recon, normalization, and rule-based vulnerability enrichment.</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2"/>
                  </a:ext>
                </a:extLst>
              </a:tr>
              <a:tr h="768132">
                <a:tc>
                  <a:txBody>
                    <a:bodyPr/>
                    <a:lstStyle/>
                    <a:p>
                      <a:pPr marL="0" indent="0" algn="l">
                        <a:buNone/>
                      </a:pPr>
                      <a:r>
                        <a:rPr lang="en-US" sz="1100" kern="0" spc="88" dirty="0">
                          <a:solidFill>
                            <a:srgbClr val="FFFFFF"/>
                          </a:solidFill>
                          <a:latin typeface="Martian Mono" pitchFamily="34" charset="0"/>
                          <a:ea typeface="Martian Mono" pitchFamily="34" charset="-122"/>
                          <a:cs typeface="Martian Mono" pitchFamily="34" charset="-120"/>
                        </a:rPr>
                        <a:t>RISK ENGINE</a:t>
                      </a:r>
                      <a:endParaRPr lang="en-US" sz="1100" dirty="0">
                        <a:latin typeface="Martian Mono" charset="0"/>
                        <a:ea typeface="Martian Mono" charset="0"/>
                        <a:cs typeface="Martian Mono"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111B3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11B30"/>
                    </a:solidFill>
                  </a:tcPr>
                </a:tc>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Risk computation translates observed configurations into structured severity findings.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tcPr>
                </a:tc>
                <a:extLst>
                  <a:ext uri="{0D108BD9-81ED-4DB2-BD59-A6C34878D82A}">
                    <a16:rowId xmlns:a16="http://schemas.microsoft.com/office/drawing/2014/main" val="10003"/>
                  </a:ext>
                </a:extLst>
              </a:tr>
              <a:tr h="755433">
                <a:tc>
                  <a:txBody>
                    <a:bodyPr/>
                    <a:lstStyle/>
                    <a:p>
                      <a:pPr marL="0" indent="0" algn="l">
                        <a:buNone/>
                      </a:pPr>
                      <a:r>
                        <a:rPr lang="en-US" sz="1100" kern="0" spc="88" dirty="0">
                          <a:solidFill>
                            <a:srgbClr val="FFFFFF"/>
                          </a:solidFill>
                          <a:latin typeface="Martian Mono" pitchFamily="34" charset="0"/>
                          <a:ea typeface="Martian Mono" pitchFamily="34" charset="-122"/>
                          <a:cs typeface="Martian Mono" pitchFamily="34" charset="-120"/>
                        </a:rPr>
                        <a:t>DATA + REPORTING</a:t>
                      </a:r>
                      <a:endParaRPr lang="en-US" sz="1100" dirty="0">
                        <a:latin typeface="Martian Mono" charset="0"/>
                        <a:ea typeface="Martian Mono" charset="0"/>
                        <a:cs typeface="Martian Mono"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111B3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11B30"/>
                      </a:solidFill>
                      <a:prstDash val="solid"/>
                      <a:round/>
                      <a:headEnd type="none" w="med" len="med"/>
                      <a:tailEnd type="none" w="med" len="med"/>
                    </a:lnB>
                    <a:solidFill>
                      <a:srgbClr val="111B30"/>
                    </a:solidFill>
                  </a:tcPr>
                </a:tc>
                <a:tc>
                  <a:txBody>
                    <a:bodyPr/>
                    <a:lstStyle/>
                    <a:p>
                      <a:pPr marL="0" indent="0" algn="l">
                        <a:buNone/>
                      </a:pPr>
                      <a:r>
                        <a:rPr lang="en-US" sz="1700" b="1" dirty="0">
                          <a:solidFill>
                            <a:srgbClr val="DDE0EE"/>
                          </a:solidFill>
                          <a:latin typeface="Hubot Sans" pitchFamily="34" charset="0"/>
                          <a:ea typeface="Hubot Sans" pitchFamily="34" charset="-122"/>
                          <a:cs typeface="Hubot Sans" pitchFamily="34" charset="-120"/>
                        </a:rPr>
                        <a:t>PostgreSQL · SQLAlchemy · Alembic persist results and produce JSON/PDF audit exports.</a:t>
                      </a:r>
                      <a:endParaRPr lang="en-US" sz="1700" dirty="0">
                        <a:latin typeface="Hubot Sans" charset="0"/>
                        <a:ea typeface="Hubot Sans" charset="0"/>
                        <a:cs typeface="Hubot Sans" charset="0"/>
                      </a:endParaRPr>
                    </a:p>
                  </a:txBody>
                  <a:tcPr marL="161921" marR="161921" marT="86358" marB="86358" anchor="ctr">
                    <a:lnL w="12700" cap="flat" cmpd="sng" algn="ctr">
                      <a:solidFill>
                        <a:srgbClr val="111B30"/>
                      </a:solidFill>
                      <a:prstDash val="solid"/>
                      <a:round/>
                      <a:headEnd type="none" w="med" len="med"/>
                      <a:tailEnd type="none" w="med" len="med"/>
                    </a:lnL>
                    <a:lnR w="12700" cap="flat" cmpd="sng" algn="ctr">
                      <a:solidFill>
                        <a:srgbClr val="0B1120"/>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0B112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6" name="Picture 5">
            <a:extLst>
              <a:ext uri="{FF2B5EF4-FFF2-40B4-BE49-F238E27FC236}">
                <a16:creationId xmlns:a16="http://schemas.microsoft.com/office/drawing/2014/main" id="{FE5A4463-3A08-1650-F0AF-5A9E5E2E12F3}"/>
              </a:ext>
            </a:extLst>
          </p:cNvPr>
          <p:cNvPicPr>
            <a:picLocks noChangeAspect="1"/>
          </p:cNvPicPr>
          <p:nvPr/>
        </p:nvPicPr>
        <p:blipFill>
          <a:blip r:embed="rId3"/>
          <a:stretch>
            <a:fillRect/>
          </a:stretch>
        </p:blipFill>
        <p:spPr>
          <a:xfrm>
            <a:off x="10362737" y="6499829"/>
            <a:ext cx="1828958" cy="3581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CORE OPERATIONAL PIPELINE</a:t>
            </a:r>
            <a:endParaRPr lang="en-US" sz="1100" dirty="0"/>
          </a:p>
        </p:txBody>
      </p:sp>
      <p:sp>
        <p:nvSpPr>
          <p:cNvPr id="3" name="Text 1"/>
          <p:cNvSpPr/>
          <p:nvPr/>
        </p:nvSpPr>
        <p:spPr>
          <a:xfrm>
            <a:off x="609585" y="869950"/>
            <a:ext cx="10972526" cy="361950"/>
          </a:xfrm>
          <a:prstGeom prst="rect">
            <a:avLst/>
          </a:prstGeom>
          <a:noFill/>
          <a:ln/>
        </p:spPr>
        <p:txBody>
          <a:bodyPr wrap="none" lIns="0" tIns="0" rIns="0" bIns="0" rtlCol="0" anchor="t"/>
          <a:lstStyle/>
          <a:p>
            <a:pPr marL="0" indent="0" algn="l">
              <a:lnSpc>
                <a:spcPct val="79000"/>
              </a:lnSpc>
              <a:buNone/>
            </a:pPr>
            <a:r>
              <a:rPr lang="en-US" sz="3000" kern="0" spc="15" dirty="0">
                <a:solidFill>
                  <a:srgbClr val="F4F5FA"/>
                </a:solidFill>
                <a:latin typeface="Space Grotesk" pitchFamily="34" charset="0"/>
                <a:ea typeface="Space Grotesk" pitchFamily="34" charset="-122"/>
                <a:cs typeface="Space Grotesk" pitchFamily="34" charset="-120"/>
              </a:rPr>
              <a:t>Authorization gates the entire reconnaissance lifecycle.</a:t>
            </a:r>
            <a:endParaRPr lang="en-US" sz="3000" dirty="0"/>
          </a:p>
        </p:txBody>
      </p:sp>
      <p:sp>
        <p:nvSpPr>
          <p:cNvPr id="4" name="Shape 2"/>
          <p:cNvSpPr/>
          <p:nvPr/>
        </p:nvSpPr>
        <p:spPr>
          <a:xfrm>
            <a:off x="609585" y="1447800"/>
            <a:ext cx="2666933" cy="2166441"/>
          </a:xfrm>
          <a:prstGeom prst="rect">
            <a:avLst/>
          </a:prstGeom>
          <a:solidFill>
            <a:srgbClr val="111B30"/>
          </a:solidFill>
          <a:ln/>
        </p:spPr>
      </p:sp>
      <p:sp>
        <p:nvSpPr>
          <p:cNvPr id="5" name="Shape 3"/>
          <p:cNvSpPr/>
          <p:nvPr/>
        </p:nvSpPr>
        <p:spPr>
          <a:xfrm>
            <a:off x="838179" y="1676400"/>
            <a:ext cx="457982" cy="377825"/>
          </a:xfrm>
          <a:prstGeom prst="rect">
            <a:avLst/>
          </a:prstGeom>
          <a:solidFill>
            <a:srgbClr val="00E5FF"/>
          </a:solidFill>
          <a:ln/>
        </p:spPr>
      </p:sp>
      <p:sp>
        <p:nvSpPr>
          <p:cNvPr id="6" name="Text 4"/>
          <p:cNvSpPr/>
          <p:nvPr/>
        </p:nvSpPr>
        <p:spPr>
          <a:xfrm>
            <a:off x="946126" y="1757362"/>
            <a:ext cx="851672" cy="215900"/>
          </a:xfrm>
          <a:prstGeom prst="rect">
            <a:avLst/>
          </a:prstGeom>
          <a:noFill/>
          <a:ln/>
        </p:spPr>
        <p:txBody>
          <a:bodyPr wrap="none" lIns="0" tIns="0" rIns="0" bIns="0" rtlCol="0" anchor="t"/>
          <a:lstStyle/>
          <a:p>
            <a:pPr marL="0" indent="0" algn="l">
              <a:lnSpc>
                <a:spcPct val="83000"/>
              </a:lnSpc>
              <a:buNone/>
            </a:pPr>
            <a:r>
              <a:rPr lang="en-US" sz="1700" b="1" dirty="0">
                <a:solidFill>
                  <a:srgbClr val="000000"/>
                </a:solidFill>
                <a:latin typeface="Hubot Sans Bold" pitchFamily="34" charset="0"/>
                <a:ea typeface="Hubot Sans Bold" pitchFamily="34" charset="-122"/>
                <a:cs typeface="Hubot Sans Bold" pitchFamily="34" charset="-120"/>
              </a:rPr>
              <a:t>01</a:t>
            </a:r>
            <a:endParaRPr lang="en-US" sz="1700" dirty="0"/>
          </a:p>
        </p:txBody>
      </p:sp>
      <p:sp>
        <p:nvSpPr>
          <p:cNvPr id="7" name="Text 5"/>
          <p:cNvSpPr/>
          <p:nvPr/>
        </p:nvSpPr>
        <p:spPr>
          <a:xfrm>
            <a:off x="838179" y="2139950"/>
            <a:ext cx="2209745" cy="215900"/>
          </a:xfrm>
          <a:prstGeom prst="rect">
            <a:avLst/>
          </a:prstGeom>
          <a:noFill/>
          <a:ln/>
        </p:spPr>
        <p:txBody>
          <a:bodyPr wrap="none" lIns="0" tIns="0" rIns="0" bIns="0" rtlCol="0" anchor="t"/>
          <a:lstStyle/>
          <a:p>
            <a:pPr marL="0" indent="0" algn="l">
              <a:lnSpc>
                <a:spcPct val="83000"/>
              </a:lnSpc>
              <a:buNone/>
            </a:pPr>
            <a:r>
              <a:rPr lang="en-US" sz="1700" kern="0" spc="8" dirty="0">
                <a:solidFill>
                  <a:srgbClr val="00E5FF"/>
                </a:solidFill>
                <a:latin typeface="Space Grotesk" pitchFamily="34" charset="0"/>
                <a:ea typeface="Space Grotesk" pitchFamily="34" charset="-122"/>
                <a:cs typeface="Space Grotesk" pitchFamily="34" charset="-120"/>
              </a:rPr>
              <a:t>CONFIGURE.</a:t>
            </a:r>
            <a:endParaRPr lang="en-US" sz="1700" dirty="0"/>
          </a:p>
        </p:txBody>
      </p:sp>
      <p:sp>
        <p:nvSpPr>
          <p:cNvPr id="8" name="Text 6"/>
          <p:cNvSpPr/>
          <p:nvPr/>
        </p:nvSpPr>
        <p:spPr>
          <a:xfrm>
            <a:off x="838179" y="2511425"/>
            <a:ext cx="2209745"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Provision target domain or CIDR.</a:t>
            </a:r>
            <a:endParaRPr lang="en-US" sz="1700" dirty="0"/>
          </a:p>
        </p:txBody>
      </p:sp>
      <p:sp>
        <p:nvSpPr>
          <p:cNvPr id="9" name="Shape 7"/>
          <p:cNvSpPr/>
          <p:nvPr/>
        </p:nvSpPr>
        <p:spPr>
          <a:xfrm>
            <a:off x="3428914" y="1447800"/>
            <a:ext cx="2590735" cy="2166441"/>
          </a:xfrm>
          <a:prstGeom prst="rect">
            <a:avLst/>
          </a:prstGeom>
          <a:solidFill>
            <a:srgbClr val="111B30"/>
          </a:solidFill>
          <a:ln/>
        </p:spPr>
      </p:sp>
      <p:sp>
        <p:nvSpPr>
          <p:cNvPr id="10" name="Shape 8"/>
          <p:cNvSpPr/>
          <p:nvPr/>
        </p:nvSpPr>
        <p:spPr>
          <a:xfrm>
            <a:off x="3657509" y="1676400"/>
            <a:ext cx="503126" cy="377825"/>
          </a:xfrm>
          <a:prstGeom prst="rect">
            <a:avLst/>
          </a:prstGeom>
          <a:solidFill>
            <a:srgbClr val="00E5FF"/>
          </a:solidFill>
          <a:ln/>
        </p:spPr>
      </p:sp>
      <p:sp>
        <p:nvSpPr>
          <p:cNvPr id="11" name="Text 9"/>
          <p:cNvSpPr/>
          <p:nvPr/>
        </p:nvSpPr>
        <p:spPr>
          <a:xfrm>
            <a:off x="3765456" y="1757362"/>
            <a:ext cx="896816" cy="215900"/>
          </a:xfrm>
          <a:prstGeom prst="rect">
            <a:avLst/>
          </a:prstGeom>
          <a:noFill/>
          <a:ln/>
        </p:spPr>
        <p:txBody>
          <a:bodyPr wrap="none" lIns="0" tIns="0" rIns="0" bIns="0" rtlCol="0" anchor="t"/>
          <a:lstStyle/>
          <a:p>
            <a:pPr marL="0" indent="0" algn="l">
              <a:lnSpc>
                <a:spcPct val="83000"/>
              </a:lnSpc>
              <a:buNone/>
            </a:pPr>
            <a:r>
              <a:rPr lang="en-US" sz="1700" b="1" dirty="0">
                <a:solidFill>
                  <a:srgbClr val="000000"/>
                </a:solidFill>
                <a:latin typeface="Hubot Sans Bold" pitchFamily="34" charset="0"/>
                <a:ea typeface="Hubot Sans Bold" pitchFamily="34" charset="-122"/>
                <a:cs typeface="Hubot Sans Bold" pitchFamily="34" charset="-120"/>
              </a:rPr>
              <a:t>02</a:t>
            </a:r>
            <a:endParaRPr lang="en-US" sz="1700" dirty="0"/>
          </a:p>
        </p:txBody>
      </p:sp>
      <p:sp>
        <p:nvSpPr>
          <p:cNvPr id="12" name="Text 10"/>
          <p:cNvSpPr/>
          <p:nvPr/>
        </p:nvSpPr>
        <p:spPr>
          <a:xfrm>
            <a:off x="3657509" y="2139950"/>
            <a:ext cx="2133547" cy="215900"/>
          </a:xfrm>
          <a:prstGeom prst="rect">
            <a:avLst/>
          </a:prstGeom>
          <a:noFill/>
          <a:ln/>
        </p:spPr>
        <p:txBody>
          <a:bodyPr wrap="none" lIns="0" tIns="0" rIns="0" bIns="0" rtlCol="0" anchor="t"/>
          <a:lstStyle/>
          <a:p>
            <a:pPr marL="0" indent="0" algn="l">
              <a:lnSpc>
                <a:spcPct val="83000"/>
              </a:lnSpc>
              <a:buNone/>
            </a:pPr>
            <a:r>
              <a:rPr lang="en-US" sz="1700" kern="0" spc="8" dirty="0">
                <a:solidFill>
                  <a:srgbClr val="00E5FF"/>
                </a:solidFill>
                <a:latin typeface="Space Grotesk" pitchFamily="34" charset="0"/>
                <a:ea typeface="Space Grotesk" pitchFamily="34" charset="-122"/>
                <a:cs typeface="Space Grotesk" pitchFamily="34" charset="-120"/>
              </a:rPr>
              <a:t>VALIDATE.</a:t>
            </a:r>
            <a:endParaRPr lang="en-US" sz="1700" dirty="0"/>
          </a:p>
        </p:txBody>
      </p:sp>
      <p:sp>
        <p:nvSpPr>
          <p:cNvPr id="13" name="Text 11"/>
          <p:cNvSpPr/>
          <p:nvPr/>
        </p:nvSpPr>
        <p:spPr>
          <a:xfrm>
            <a:off x="3657509" y="2511425"/>
            <a:ext cx="2133547"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Verify scope tokens and policy compliance.</a:t>
            </a:r>
            <a:endParaRPr lang="en-US" sz="1700" dirty="0"/>
          </a:p>
        </p:txBody>
      </p:sp>
      <p:sp>
        <p:nvSpPr>
          <p:cNvPr id="14" name="Shape 12"/>
          <p:cNvSpPr/>
          <p:nvPr/>
        </p:nvSpPr>
        <p:spPr>
          <a:xfrm>
            <a:off x="6172046" y="1447800"/>
            <a:ext cx="2590735" cy="2166441"/>
          </a:xfrm>
          <a:prstGeom prst="rect">
            <a:avLst/>
          </a:prstGeom>
          <a:solidFill>
            <a:srgbClr val="111B30"/>
          </a:solidFill>
          <a:ln/>
        </p:spPr>
      </p:sp>
      <p:sp>
        <p:nvSpPr>
          <p:cNvPr id="15" name="Shape 13"/>
          <p:cNvSpPr/>
          <p:nvPr/>
        </p:nvSpPr>
        <p:spPr>
          <a:xfrm>
            <a:off x="6400640" y="1676400"/>
            <a:ext cx="503721" cy="377825"/>
          </a:xfrm>
          <a:prstGeom prst="rect">
            <a:avLst/>
          </a:prstGeom>
          <a:solidFill>
            <a:srgbClr val="00E5FF"/>
          </a:solidFill>
          <a:ln/>
        </p:spPr>
      </p:sp>
      <p:sp>
        <p:nvSpPr>
          <p:cNvPr id="16" name="Text 14"/>
          <p:cNvSpPr/>
          <p:nvPr/>
        </p:nvSpPr>
        <p:spPr>
          <a:xfrm>
            <a:off x="6508587" y="1757362"/>
            <a:ext cx="897411" cy="215900"/>
          </a:xfrm>
          <a:prstGeom prst="rect">
            <a:avLst/>
          </a:prstGeom>
          <a:noFill/>
          <a:ln/>
        </p:spPr>
        <p:txBody>
          <a:bodyPr wrap="none" lIns="0" tIns="0" rIns="0" bIns="0" rtlCol="0" anchor="t"/>
          <a:lstStyle/>
          <a:p>
            <a:pPr marL="0" indent="0" algn="l">
              <a:lnSpc>
                <a:spcPct val="83000"/>
              </a:lnSpc>
              <a:buNone/>
            </a:pPr>
            <a:r>
              <a:rPr lang="en-US" sz="1700" b="1" dirty="0">
                <a:solidFill>
                  <a:srgbClr val="000000"/>
                </a:solidFill>
                <a:latin typeface="Hubot Sans Bold" pitchFamily="34" charset="0"/>
                <a:ea typeface="Hubot Sans Bold" pitchFamily="34" charset="-122"/>
                <a:cs typeface="Hubot Sans Bold" pitchFamily="34" charset="-120"/>
              </a:rPr>
              <a:t>03</a:t>
            </a:r>
            <a:endParaRPr lang="en-US" sz="1700" dirty="0"/>
          </a:p>
        </p:txBody>
      </p:sp>
      <p:sp>
        <p:nvSpPr>
          <p:cNvPr id="17" name="Text 15"/>
          <p:cNvSpPr/>
          <p:nvPr/>
        </p:nvSpPr>
        <p:spPr>
          <a:xfrm>
            <a:off x="6400640" y="2139950"/>
            <a:ext cx="2133547" cy="215900"/>
          </a:xfrm>
          <a:prstGeom prst="rect">
            <a:avLst/>
          </a:prstGeom>
          <a:noFill/>
          <a:ln/>
        </p:spPr>
        <p:txBody>
          <a:bodyPr wrap="none" lIns="0" tIns="0" rIns="0" bIns="0" rtlCol="0" anchor="t"/>
          <a:lstStyle/>
          <a:p>
            <a:pPr marL="0" indent="0" algn="l">
              <a:lnSpc>
                <a:spcPct val="83000"/>
              </a:lnSpc>
              <a:buNone/>
            </a:pPr>
            <a:r>
              <a:rPr lang="en-US" sz="1700" kern="0" spc="8" dirty="0">
                <a:solidFill>
                  <a:srgbClr val="00E5FF"/>
                </a:solidFill>
                <a:latin typeface="Space Grotesk" pitchFamily="34" charset="0"/>
                <a:ea typeface="Space Grotesk" pitchFamily="34" charset="-122"/>
                <a:cs typeface="Space Grotesk" pitchFamily="34" charset="-120"/>
              </a:rPr>
              <a:t>SELECT.</a:t>
            </a:r>
            <a:endParaRPr lang="en-US" sz="1700" dirty="0"/>
          </a:p>
        </p:txBody>
      </p:sp>
      <p:sp>
        <p:nvSpPr>
          <p:cNvPr id="18" name="Text 16"/>
          <p:cNvSpPr/>
          <p:nvPr/>
        </p:nvSpPr>
        <p:spPr>
          <a:xfrm>
            <a:off x="6400640" y="2511425"/>
            <a:ext cx="2133547"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Choose quick, standard, or full probe profile.</a:t>
            </a:r>
            <a:endParaRPr lang="en-US" sz="1700" dirty="0"/>
          </a:p>
        </p:txBody>
      </p:sp>
      <p:sp>
        <p:nvSpPr>
          <p:cNvPr id="19" name="Shape 17"/>
          <p:cNvSpPr/>
          <p:nvPr/>
        </p:nvSpPr>
        <p:spPr>
          <a:xfrm>
            <a:off x="8915177" y="1447800"/>
            <a:ext cx="2666933" cy="2166441"/>
          </a:xfrm>
          <a:prstGeom prst="rect">
            <a:avLst/>
          </a:prstGeom>
          <a:solidFill>
            <a:srgbClr val="111B30"/>
          </a:solidFill>
          <a:ln/>
        </p:spPr>
      </p:sp>
      <p:sp>
        <p:nvSpPr>
          <p:cNvPr id="20" name="Shape 18"/>
          <p:cNvSpPr/>
          <p:nvPr/>
        </p:nvSpPr>
        <p:spPr>
          <a:xfrm>
            <a:off x="9143771" y="1676400"/>
            <a:ext cx="518008" cy="377825"/>
          </a:xfrm>
          <a:prstGeom prst="rect">
            <a:avLst/>
          </a:prstGeom>
          <a:solidFill>
            <a:srgbClr val="00E5FF"/>
          </a:solidFill>
          <a:ln/>
        </p:spPr>
      </p:sp>
      <p:sp>
        <p:nvSpPr>
          <p:cNvPr id="21" name="Text 19"/>
          <p:cNvSpPr/>
          <p:nvPr/>
        </p:nvSpPr>
        <p:spPr>
          <a:xfrm>
            <a:off x="9251719" y="1757362"/>
            <a:ext cx="911698" cy="215900"/>
          </a:xfrm>
          <a:prstGeom prst="rect">
            <a:avLst/>
          </a:prstGeom>
          <a:noFill/>
          <a:ln/>
        </p:spPr>
        <p:txBody>
          <a:bodyPr wrap="none" lIns="0" tIns="0" rIns="0" bIns="0" rtlCol="0" anchor="t"/>
          <a:lstStyle/>
          <a:p>
            <a:pPr marL="0" indent="0" algn="l">
              <a:lnSpc>
                <a:spcPct val="83000"/>
              </a:lnSpc>
              <a:buNone/>
            </a:pPr>
            <a:r>
              <a:rPr lang="en-US" sz="1700" b="1" dirty="0">
                <a:solidFill>
                  <a:srgbClr val="000000"/>
                </a:solidFill>
                <a:latin typeface="Hubot Sans Bold" pitchFamily="34" charset="0"/>
                <a:ea typeface="Hubot Sans Bold" pitchFamily="34" charset="-122"/>
                <a:cs typeface="Hubot Sans Bold" pitchFamily="34" charset="-120"/>
              </a:rPr>
              <a:t>04</a:t>
            </a:r>
            <a:endParaRPr lang="en-US" sz="1700" dirty="0"/>
          </a:p>
        </p:txBody>
      </p:sp>
      <p:sp>
        <p:nvSpPr>
          <p:cNvPr id="22" name="Text 20"/>
          <p:cNvSpPr/>
          <p:nvPr/>
        </p:nvSpPr>
        <p:spPr>
          <a:xfrm>
            <a:off x="9143771" y="2139950"/>
            <a:ext cx="2209745" cy="215900"/>
          </a:xfrm>
          <a:prstGeom prst="rect">
            <a:avLst/>
          </a:prstGeom>
          <a:noFill/>
          <a:ln/>
        </p:spPr>
        <p:txBody>
          <a:bodyPr wrap="none" lIns="0" tIns="0" rIns="0" bIns="0" rtlCol="0" anchor="t"/>
          <a:lstStyle/>
          <a:p>
            <a:pPr marL="0" indent="0" algn="l">
              <a:lnSpc>
                <a:spcPct val="83000"/>
              </a:lnSpc>
              <a:buNone/>
            </a:pPr>
            <a:r>
              <a:rPr lang="en-US" sz="1700" kern="0" spc="8" dirty="0">
                <a:solidFill>
                  <a:srgbClr val="00E5FF"/>
                </a:solidFill>
                <a:latin typeface="Space Grotesk" pitchFamily="34" charset="0"/>
                <a:ea typeface="Space Grotesk" pitchFamily="34" charset="-122"/>
                <a:cs typeface="Space Grotesk" pitchFamily="34" charset="-120"/>
              </a:rPr>
              <a:t>RECON.</a:t>
            </a:r>
            <a:endParaRPr lang="en-US" sz="1700" dirty="0"/>
          </a:p>
        </p:txBody>
      </p:sp>
      <p:sp>
        <p:nvSpPr>
          <p:cNvPr id="23" name="Text 21"/>
          <p:cNvSpPr/>
          <p:nvPr/>
        </p:nvSpPr>
        <p:spPr>
          <a:xfrm>
            <a:off x="9143771" y="2511425"/>
            <a:ext cx="2209745"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Execute asynchronous Nmap fingerprinting.</a:t>
            </a:r>
            <a:endParaRPr lang="en-US" sz="1700" dirty="0"/>
          </a:p>
        </p:txBody>
      </p:sp>
      <p:sp>
        <p:nvSpPr>
          <p:cNvPr id="24" name="Shape 22"/>
          <p:cNvSpPr/>
          <p:nvPr/>
        </p:nvSpPr>
        <p:spPr>
          <a:xfrm>
            <a:off x="609585" y="3766641"/>
            <a:ext cx="2666933" cy="2166441"/>
          </a:xfrm>
          <a:prstGeom prst="rect">
            <a:avLst/>
          </a:prstGeom>
          <a:solidFill>
            <a:srgbClr val="111B30"/>
          </a:solidFill>
          <a:ln/>
        </p:spPr>
      </p:sp>
      <p:sp>
        <p:nvSpPr>
          <p:cNvPr id="25" name="Shape 23"/>
          <p:cNvSpPr/>
          <p:nvPr/>
        </p:nvSpPr>
        <p:spPr>
          <a:xfrm>
            <a:off x="838179" y="3995241"/>
            <a:ext cx="506499" cy="377825"/>
          </a:xfrm>
          <a:prstGeom prst="rect">
            <a:avLst/>
          </a:prstGeom>
          <a:solidFill>
            <a:srgbClr val="00E5FF"/>
          </a:solidFill>
          <a:ln/>
        </p:spPr>
      </p:sp>
      <p:sp>
        <p:nvSpPr>
          <p:cNvPr id="26" name="Text 24"/>
          <p:cNvSpPr/>
          <p:nvPr/>
        </p:nvSpPr>
        <p:spPr>
          <a:xfrm>
            <a:off x="946126" y="4076204"/>
            <a:ext cx="900189" cy="215900"/>
          </a:xfrm>
          <a:prstGeom prst="rect">
            <a:avLst/>
          </a:prstGeom>
          <a:noFill/>
          <a:ln/>
        </p:spPr>
        <p:txBody>
          <a:bodyPr wrap="none" lIns="0" tIns="0" rIns="0" bIns="0" rtlCol="0" anchor="t"/>
          <a:lstStyle/>
          <a:p>
            <a:pPr marL="0" indent="0" algn="l">
              <a:lnSpc>
                <a:spcPct val="83000"/>
              </a:lnSpc>
              <a:buNone/>
            </a:pPr>
            <a:r>
              <a:rPr lang="en-US" sz="1700" b="1" dirty="0">
                <a:solidFill>
                  <a:srgbClr val="000000"/>
                </a:solidFill>
                <a:latin typeface="Hubot Sans Bold" pitchFamily="34" charset="0"/>
                <a:ea typeface="Hubot Sans Bold" pitchFamily="34" charset="-122"/>
                <a:cs typeface="Hubot Sans Bold" pitchFamily="34" charset="-120"/>
              </a:rPr>
              <a:t>05</a:t>
            </a:r>
            <a:endParaRPr lang="en-US" sz="1700" dirty="0"/>
          </a:p>
        </p:txBody>
      </p:sp>
      <p:sp>
        <p:nvSpPr>
          <p:cNvPr id="27" name="Text 25"/>
          <p:cNvSpPr/>
          <p:nvPr/>
        </p:nvSpPr>
        <p:spPr>
          <a:xfrm>
            <a:off x="838179" y="4458791"/>
            <a:ext cx="2209745" cy="215900"/>
          </a:xfrm>
          <a:prstGeom prst="rect">
            <a:avLst/>
          </a:prstGeom>
          <a:noFill/>
          <a:ln/>
        </p:spPr>
        <p:txBody>
          <a:bodyPr wrap="none" lIns="0" tIns="0" rIns="0" bIns="0" rtlCol="0" anchor="t"/>
          <a:lstStyle/>
          <a:p>
            <a:pPr marL="0" indent="0" algn="l">
              <a:lnSpc>
                <a:spcPct val="83000"/>
              </a:lnSpc>
              <a:buNone/>
            </a:pPr>
            <a:r>
              <a:rPr lang="en-US" sz="1700" kern="0" spc="8" dirty="0">
                <a:solidFill>
                  <a:srgbClr val="00E5FF"/>
                </a:solidFill>
                <a:latin typeface="Space Grotesk" pitchFamily="34" charset="0"/>
                <a:ea typeface="Space Grotesk" pitchFamily="34" charset="-122"/>
                <a:cs typeface="Space Grotesk" pitchFamily="34" charset="-120"/>
              </a:rPr>
              <a:t>DISCOVER.</a:t>
            </a:r>
            <a:endParaRPr lang="en-US" sz="1700" dirty="0"/>
          </a:p>
        </p:txBody>
      </p:sp>
      <p:sp>
        <p:nvSpPr>
          <p:cNvPr id="28" name="Text 26"/>
          <p:cNvSpPr/>
          <p:nvPr/>
        </p:nvSpPr>
        <p:spPr>
          <a:xfrm>
            <a:off x="838179" y="4830266"/>
            <a:ext cx="2209745"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Enumerate live hosts, ports, and banners.</a:t>
            </a:r>
            <a:endParaRPr lang="en-US" sz="1700" dirty="0"/>
          </a:p>
        </p:txBody>
      </p:sp>
      <p:sp>
        <p:nvSpPr>
          <p:cNvPr id="29" name="Shape 27"/>
          <p:cNvSpPr/>
          <p:nvPr/>
        </p:nvSpPr>
        <p:spPr>
          <a:xfrm>
            <a:off x="3428914" y="3766641"/>
            <a:ext cx="2590735" cy="2166441"/>
          </a:xfrm>
          <a:prstGeom prst="rect">
            <a:avLst/>
          </a:prstGeom>
          <a:solidFill>
            <a:srgbClr val="111B30"/>
          </a:solidFill>
          <a:ln/>
        </p:spPr>
      </p:sp>
      <p:sp>
        <p:nvSpPr>
          <p:cNvPr id="30" name="Shape 28"/>
          <p:cNvSpPr/>
          <p:nvPr/>
        </p:nvSpPr>
        <p:spPr>
          <a:xfrm>
            <a:off x="3657509" y="3995241"/>
            <a:ext cx="513643" cy="377825"/>
          </a:xfrm>
          <a:prstGeom prst="rect">
            <a:avLst/>
          </a:prstGeom>
          <a:solidFill>
            <a:srgbClr val="00E5FF"/>
          </a:solidFill>
          <a:ln/>
        </p:spPr>
      </p:sp>
      <p:sp>
        <p:nvSpPr>
          <p:cNvPr id="31" name="Text 29"/>
          <p:cNvSpPr/>
          <p:nvPr/>
        </p:nvSpPr>
        <p:spPr>
          <a:xfrm>
            <a:off x="3765456" y="4076204"/>
            <a:ext cx="907333" cy="215900"/>
          </a:xfrm>
          <a:prstGeom prst="rect">
            <a:avLst/>
          </a:prstGeom>
          <a:noFill/>
          <a:ln/>
        </p:spPr>
        <p:txBody>
          <a:bodyPr wrap="none" lIns="0" tIns="0" rIns="0" bIns="0" rtlCol="0" anchor="t"/>
          <a:lstStyle/>
          <a:p>
            <a:pPr marL="0" indent="0" algn="l">
              <a:lnSpc>
                <a:spcPct val="83000"/>
              </a:lnSpc>
              <a:buNone/>
            </a:pPr>
            <a:r>
              <a:rPr lang="en-US" sz="1700" b="1" dirty="0">
                <a:solidFill>
                  <a:srgbClr val="000000"/>
                </a:solidFill>
                <a:latin typeface="Hubot Sans Bold" pitchFamily="34" charset="0"/>
                <a:ea typeface="Hubot Sans Bold" pitchFamily="34" charset="-122"/>
                <a:cs typeface="Hubot Sans Bold" pitchFamily="34" charset="-120"/>
              </a:rPr>
              <a:t>06</a:t>
            </a:r>
            <a:endParaRPr lang="en-US" sz="1700" dirty="0"/>
          </a:p>
        </p:txBody>
      </p:sp>
      <p:sp>
        <p:nvSpPr>
          <p:cNvPr id="32" name="Text 30"/>
          <p:cNvSpPr/>
          <p:nvPr/>
        </p:nvSpPr>
        <p:spPr>
          <a:xfrm>
            <a:off x="3657509" y="4458791"/>
            <a:ext cx="2133547" cy="215900"/>
          </a:xfrm>
          <a:prstGeom prst="rect">
            <a:avLst/>
          </a:prstGeom>
          <a:noFill/>
          <a:ln/>
        </p:spPr>
        <p:txBody>
          <a:bodyPr wrap="none" lIns="0" tIns="0" rIns="0" bIns="0" rtlCol="0" anchor="t"/>
          <a:lstStyle/>
          <a:p>
            <a:pPr marL="0" indent="0" algn="l">
              <a:lnSpc>
                <a:spcPct val="83000"/>
              </a:lnSpc>
              <a:buNone/>
            </a:pPr>
            <a:r>
              <a:rPr lang="en-US" sz="1700" kern="0" spc="8" dirty="0">
                <a:solidFill>
                  <a:srgbClr val="00E5FF"/>
                </a:solidFill>
                <a:latin typeface="Space Grotesk" pitchFamily="34" charset="0"/>
                <a:ea typeface="Space Grotesk" pitchFamily="34" charset="-122"/>
                <a:cs typeface="Space Grotesk" pitchFamily="34" charset="-120"/>
              </a:rPr>
              <a:t>ANALYZE.</a:t>
            </a:r>
            <a:endParaRPr lang="en-US" sz="1700" dirty="0"/>
          </a:p>
        </p:txBody>
      </p:sp>
      <p:sp>
        <p:nvSpPr>
          <p:cNvPr id="33" name="Text 31"/>
          <p:cNvSpPr/>
          <p:nvPr/>
        </p:nvSpPr>
        <p:spPr>
          <a:xfrm>
            <a:off x="3657509" y="4830266"/>
            <a:ext cx="2133547"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Run configuration checks and heuristics.</a:t>
            </a:r>
            <a:endParaRPr lang="en-US" sz="1700" dirty="0"/>
          </a:p>
        </p:txBody>
      </p:sp>
      <p:sp>
        <p:nvSpPr>
          <p:cNvPr id="34" name="Shape 32"/>
          <p:cNvSpPr/>
          <p:nvPr/>
        </p:nvSpPr>
        <p:spPr>
          <a:xfrm>
            <a:off x="6172046" y="3766641"/>
            <a:ext cx="2590735" cy="2166441"/>
          </a:xfrm>
          <a:prstGeom prst="rect">
            <a:avLst/>
          </a:prstGeom>
          <a:solidFill>
            <a:srgbClr val="111B30"/>
          </a:solidFill>
          <a:ln/>
        </p:spPr>
      </p:sp>
      <p:sp>
        <p:nvSpPr>
          <p:cNvPr id="35" name="Shape 33"/>
          <p:cNvSpPr/>
          <p:nvPr/>
        </p:nvSpPr>
        <p:spPr>
          <a:xfrm>
            <a:off x="6400640" y="3995241"/>
            <a:ext cx="503721" cy="377825"/>
          </a:xfrm>
          <a:prstGeom prst="rect">
            <a:avLst/>
          </a:prstGeom>
          <a:solidFill>
            <a:srgbClr val="00E5FF"/>
          </a:solidFill>
          <a:ln/>
        </p:spPr>
      </p:sp>
      <p:sp>
        <p:nvSpPr>
          <p:cNvPr id="36" name="Text 34"/>
          <p:cNvSpPr/>
          <p:nvPr/>
        </p:nvSpPr>
        <p:spPr>
          <a:xfrm>
            <a:off x="6508587" y="4076204"/>
            <a:ext cx="897411" cy="215900"/>
          </a:xfrm>
          <a:prstGeom prst="rect">
            <a:avLst/>
          </a:prstGeom>
          <a:noFill/>
          <a:ln/>
        </p:spPr>
        <p:txBody>
          <a:bodyPr wrap="none" lIns="0" tIns="0" rIns="0" bIns="0" rtlCol="0" anchor="t"/>
          <a:lstStyle/>
          <a:p>
            <a:pPr marL="0" indent="0" algn="l">
              <a:lnSpc>
                <a:spcPct val="83000"/>
              </a:lnSpc>
              <a:buNone/>
            </a:pPr>
            <a:r>
              <a:rPr lang="en-US" sz="1700" b="1" dirty="0">
                <a:solidFill>
                  <a:srgbClr val="000000"/>
                </a:solidFill>
                <a:latin typeface="Hubot Sans Bold" pitchFamily="34" charset="0"/>
                <a:ea typeface="Hubot Sans Bold" pitchFamily="34" charset="-122"/>
                <a:cs typeface="Hubot Sans Bold" pitchFamily="34" charset="-120"/>
              </a:rPr>
              <a:t>07</a:t>
            </a:r>
            <a:endParaRPr lang="en-US" sz="1700" dirty="0"/>
          </a:p>
        </p:txBody>
      </p:sp>
      <p:sp>
        <p:nvSpPr>
          <p:cNvPr id="37" name="Text 35"/>
          <p:cNvSpPr/>
          <p:nvPr/>
        </p:nvSpPr>
        <p:spPr>
          <a:xfrm>
            <a:off x="6400640" y="4458791"/>
            <a:ext cx="2133547" cy="215900"/>
          </a:xfrm>
          <a:prstGeom prst="rect">
            <a:avLst/>
          </a:prstGeom>
          <a:noFill/>
          <a:ln/>
        </p:spPr>
        <p:txBody>
          <a:bodyPr wrap="none" lIns="0" tIns="0" rIns="0" bIns="0" rtlCol="0" anchor="t"/>
          <a:lstStyle/>
          <a:p>
            <a:pPr marL="0" indent="0" algn="l">
              <a:lnSpc>
                <a:spcPct val="83000"/>
              </a:lnSpc>
              <a:buNone/>
            </a:pPr>
            <a:r>
              <a:rPr lang="en-US" sz="1700" kern="0" spc="8" dirty="0">
                <a:solidFill>
                  <a:srgbClr val="00E5FF"/>
                </a:solidFill>
                <a:latin typeface="Space Grotesk" pitchFamily="34" charset="0"/>
                <a:ea typeface="Space Grotesk" pitchFamily="34" charset="-122"/>
                <a:cs typeface="Space Grotesk" pitchFamily="34" charset="-120"/>
              </a:rPr>
              <a:t>QUANTIFY.</a:t>
            </a:r>
            <a:endParaRPr lang="en-US" sz="1700" dirty="0"/>
          </a:p>
        </p:txBody>
      </p:sp>
      <p:sp>
        <p:nvSpPr>
          <p:cNvPr id="38" name="Text 36"/>
          <p:cNvSpPr/>
          <p:nvPr/>
        </p:nvSpPr>
        <p:spPr>
          <a:xfrm>
            <a:off x="6400640" y="4830266"/>
            <a:ext cx="2133547"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Generate weighted exposure risk score.</a:t>
            </a:r>
            <a:endParaRPr lang="en-US" sz="1700" dirty="0"/>
          </a:p>
        </p:txBody>
      </p:sp>
      <p:sp>
        <p:nvSpPr>
          <p:cNvPr id="39" name="Shape 37"/>
          <p:cNvSpPr/>
          <p:nvPr/>
        </p:nvSpPr>
        <p:spPr>
          <a:xfrm>
            <a:off x="8915177" y="3766641"/>
            <a:ext cx="2666933" cy="2166441"/>
          </a:xfrm>
          <a:prstGeom prst="rect">
            <a:avLst/>
          </a:prstGeom>
          <a:solidFill>
            <a:srgbClr val="111B30"/>
          </a:solidFill>
          <a:ln/>
        </p:spPr>
      </p:sp>
      <p:sp>
        <p:nvSpPr>
          <p:cNvPr id="40" name="Shape 38"/>
          <p:cNvSpPr/>
          <p:nvPr/>
        </p:nvSpPr>
        <p:spPr>
          <a:xfrm>
            <a:off x="9143771" y="3995241"/>
            <a:ext cx="510170" cy="377825"/>
          </a:xfrm>
          <a:prstGeom prst="rect">
            <a:avLst/>
          </a:prstGeom>
          <a:solidFill>
            <a:srgbClr val="00E5FF"/>
          </a:solidFill>
          <a:ln/>
        </p:spPr>
      </p:sp>
      <p:sp>
        <p:nvSpPr>
          <p:cNvPr id="41" name="Text 39"/>
          <p:cNvSpPr/>
          <p:nvPr/>
        </p:nvSpPr>
        <p:spPr>
          <a:xfrm>
            <a:off x="9251719" y="4076204"/>
            <a:ext cx="903860" cy="215900"/>
          </a:xfrm>
          <a:prstGeom prst="rect">
            <a:avLst/>
          </a:prstGeom>
          <a:noFill/>
          <a:ln/>
        </p:spPr>
        <p:txBody>
          <a:bodyPr wrap="none" lIns="0" tIns="0" rIns="0" bIns="0" rtlCol="0" anchor="t"/>
          <a:lstStyle/>
          <a:p>
            <a:pPr marL="0" indent="0" algn="l">
              <a:lnSpc>
                <a:spcPct val="83000"/>
              </a:lnSpc>
              <a:buNone/>
            </a:pPr>
            <a:r>
              <a:rPr lang="en-US" sz="1700" b="1" dirty="0">
                <a:solidFill>
                  <a:srgbClr val="000000"/>
                </a:solidFill>
                <a:latin typeface="Hubot Sans Bold" pitchFamily="34" charset="0"/>
                <a:ea typeface="Hubot Sans Bold" pitchFamily="34" charset="-122"/>
                <a:cs typeface="Hubot Sans Bold" pitchFamily="34" charset="-120"/>
              </a:rPr>
              <a:t>08</a:t>
            </a:r>
            <a:endParaRPr lang="en-US" sz="1700" dirty="0"/>
          </a:p>
        </p:txBody>
      </p:sp>
      <p:sp>
        <p:nvSpPr>
          <p:cNvPr id="42" name="Text 40"/>
          <p:cNvSpPr/>
          <p:nvPr/>
        </p:nvSpPr>
        <p:spPr>
          <a:xfrm>
            <a:off x="9143771" y="4458791"/>
            <a:ext cx="2209745" cy="215900"/>
          </a:xfrm>
          <a:prstGeom prst="rect">
            <a:avLst/>
          </a:prstGeom>
          <a:noFill/>
          <a:ln/>
        </p:spPr>
        <p:txBody>
          <a:bodyPr wrap="none" lIns="0" tIns="0" rIns="0" bIns="0" rtlCol="0" anchor="t"/>
          <a:lstStyle/>
          <a:p>
            <a:pPr marL="0" indent="0" algn="l">
              <a:lnSpc>
                <a:spcPct val="83000"/>
              </a:lnSpc>
              <a:buNone/>
            </a:pPr>
            <a:r>
              <a:rPr lang="en-US" sz="1700" kern="0" spc="8" dirty="0">
                <a:solidFill>
                  <a:srgbClr val="00E5FF"/>
                </a:solidFill>
                <a:latin typeface="Space Grotesk" pitchFamily="34" charset="0"/>
                <a:ea typeface="Space Grotesk" pitchFamily="34" charset="-122"/>
                <a:cs typeface="Space Grotesk" pitchFamily="34" charset="-120"/>
              </a:rPr>
              <a:t>REMEDIATE.</a:t>
            </a:r>
            <a:endParaRPr lang="en-US" sz="1700" dirty="0"/>
          </a:p>
        </p:txBody>
      </p:sp>
      <p:sp>
        <p:nvSpPr>
          <p:cNvPr id="43" name="Text 41"/>
          <p:cNvSpPr/>
          <p:nvPr/>
        </p:nvSpPr>
        <p:spPr>
          <a:xfrm>
            <a:off x="9143771" y="4830266"/>
            <a:ext cx="2209745"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Issue fixes, log evidence, export PDF.</a:t>
            </a:r>
            <a:endParaRPr lang="en-US" sz="1700" dirty="0"/>
          </a:p>
        </p:txBody>
      </p:sp>
      <p:pic>
        <p:nvPicPr>
          <p:cNvPr id="46" name="Picture 45">
            <a:extLst>
              <a:ext uri="{FF2B5EF4-FFF2-40B4-BE49-F238E27FC236}">
                <a16:creationId xmlns:a16="http://schemas.microsoft.com/office/drawing/2014/main" id="{5D00E586-8D53-13A1-9AF1-BA39BC2EF808}"/>
              </a:ext>
            </a:extLst>
          </p:cNvPr>
          <p:cNvPicPr>
            <a:picLocks noChangeAspect="1"/>
          </p:cNvPicPr>
          <p:nvPr/>
        </p:nvPicPr>
        <p:blipFill>
          <a:blip r:embed="rId3"/>
          <a:stretch>
            <a:fillRect/>
          </a:stretch>
        </p:blipFill>
        <p:spPr>
          <a:xfrm>
            <a:off x="10363042" y="6439180"/>
            <a:ext cx="1828958" cy="3581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TECHNICAL STACK &amp; INFRASTRUCTURE</a:t>
            </a:r>
            <a:endParaRPr lang="en-US" sz="1100" dirty="0"/>
          </a:p>
        </p:txBody>
      </p:sp>
      <p:sp>
        <p:nvSpPr>
          <p:cNvPr id="3" name="Text 1"/>
          <p:cNvSpPr/>
          <p:nvPr/>
        </p:nvSpPr>
        <p:spPr>
          <a:xfrm>
            <a:off x="609585" y="869950"/>
            <a:ext cx="10972526" cy="361950"/>
          </a:xfrm>
          <a:prstGeom prst="rect">
            <a:avLst/>
          </a:prstGeom>
          <a:noFill/>
          <a:ln/>
        </p:spPr>
        <p:txBody>
          <a:bodyPr wrap="none" lIns="0" tIns="0" rIns="0" bIns="0" rtlCol="0" anchor="t"/>
          <a:lstStyle/>
          <a:p>
            <a:pPr marL="0" indent="0" algn="l">
              <a:lnSpc>
                <a:spcPct val="79000"/>
              </a:lnSpc>
              <a:buNone/>
            </a:pPr>
            <a:r>
              <a:rPr lang="en-US" sz="3000" kern="0" spc="15" dirty="0">
                <a:solidFill>
                  <a:srgbClr val="F4F5FA"/>
                </a:solidFill>
                <a:latin typeface="Space Grotesk" pitchFamily="34" charset="0"/>
                <a:ea typeface="Space Grotesk" pitchFamily="34" charset="-122"/>
                <a:cs typeface="Space Grotesk" pitchFamily="34" charset="-120"/>
              </a:rPr>
              <a:t>Purpose-built components, separated by responsibility.</a:t>
            </a:r>
            <a:endParaRPr lang="en-US" sz="3000" dirty="0"/>
          </a:p>
        </p:txBody>
      </p:sp>
      <p:sp>
        <p:nvSpPr>
          <p:cNvPr id="4" name="Shape 2"/>
          <p:cNvSpPr/>
          <p:nvPr/>
        </p:nvSpPr>
        <p:spPr>
          <a:xfrm>
            <a:off x="609585" y="1447800"/>
            <a:ext cx="2628834" cy="2667992"/>
          </a:xfrm>
          <a:prstGeom prst="rect">
            <a:avLst/>
          </a:prstGeom>
          <a:solidFill>
            <a:srgbClr val="111B30"/>
          </a:solidFill>
          <a:ln/>
        </p:spPr>
      </p:sp>
      <p:sp>
        <p:nvSpPr>
          <p:cNvPr id="5" name="Shape 3"/>
          <p:cNvSpPr/>
          <p:nvPr/>
        </p:nvSpPr>
        <p:spPr>
          <a:xfrm>
            <a:off x="838179" y="1676400"/>
            <a:ext cx="514337" cy="514350"/>
          </a:xfrm>
          <a:prstGeom prst="rect">
            <a:avLst/>
          </a:prstGeom>
          <a:solidFill>
            <a:srgbClr val="00E5FF"/>
          </a:solidFill>
          <a:ln/>
        </p:spPr>
      </p:sp>
      <p:pic>
        <p:nvPicPr>
          <p:cNvPr id="6" name="Image 0" descr="preencoded.png"/>
          <p:cNvPicPr>
            <a:picLocks noChangeAspect="1"/>
          </p:cNvPicPr>
          <p:nvPr/>
        </p:nvPicPr>
        <p:blipFill>
          <a:blip r:embed="rId3"/>
          <a:stretch>
            <a:fillRect/>
          </a:stretch>
        </p:blipFill>
        <p:spPr>
          <a:xfrm>
            <a:off x="1000100" y="1838325"/>
            <a:ext cx="190495" cy="190500"/>
          </a:xfrm>
          <a:prstGeom prst="rect">
            <a:avLst/>
          </a:prstGeom>
        </p:spPr>
      </p:pic>
      <p:sp>
        <p:nvSpPr>
          <p:cNvPr id="7" name="Text 4"/>
          <p:cNvSpPr/>
          <p:nvPr/>
        </p:nvSpPr>
        <p:spPr>
          <a:xfrm>
            <a:off x="838179" y="2317750"/>
            <a:ext cx="2171646"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Frontend</a:t>
            </a:r>
            <a:endParaRPr lang="en-US" sz="1700" dirty="0"/>
          </a:p>
        </p:txBody>
      </p:sp>
      <p:sp>
        <p:nvSpPr>
          <p:cNvPr id="8" name="Text 5"/>
          <p:cNvSpPr/>
          <p:nvPr/>
        </p:nvSpPr>
        <p:spPr>
          <a:xfrm>
            <a:off x="838179" y="2721570"/>
            <a:ext cx="2171646"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React, TypeScript, Vite, Tailwind CSS, Three.js, Recharts.</a:t>
            </a:r>
            <a:endParaRPr lang="en-US" sz="1700" dirty="0"/>
          </a:p>
        </p:txBody>
      </p:sp>
      <p:sp>
        <p:nvSpPr>
          <p:cNvPr id="9" name="Shape 6"/>
          <p:cNvSpPr/>
          <p:nvPr/>
        </p:nvSpPr>
        <p:spPr>
          <a:xfrm>
            <a:off x="3390815" y="1447800"/>
            <a:ext cx="2628834" cy="2667992"/>
          </a:xfrm>
          <a:prstGeom prst="rect">
            <a:avLst/>
          </a:prstGeom>
          <a:solidFill>
            <a:srgbClr val="111B30"/>
          </a:solidFill>
          <a:ln/>
        </p:spPr>
      </p:sp>
      <p:sp>
        <p:nvSpPr>
          <p:cNvPr id="10" name="Shape 7"/>
          <p:cNvSpPr/>
          <p:nvPr/>
        </p:nvSpPr>
        <p:spPr>
          <a:xfrm>
            <a:off x="3619409" y="1676400"/>
            <a:ext cx="514337" cy="514350"/>
          </a:xfrm>
          <a:prstGeom prst="rect">
            <a:avLst/>
          </a:prstGeom>
          <a:solidFill>
            <a:srgbClr val="00E5FF"/>
          </a:solidFill>
          <a:ln/>
        </p:spPr>
      </p:sp>
      <p:pic>
        <p:nvPicPr>
          <p:cNvPr id="11" name="Image 1" descr="preencoded.png"/>
          <p:cNvPicPr>
            <a:picLocks noChangeAspect="1"/>
          </p:cNvPicPr>
          <p:nvPr/>
        </p:nvPicPr>
        <p:blipFill>
          <a:blip r:embed="rId4"/>
          <a:stretch>
            <a:fillRect/>
          </a:stretch>
        </p:blipFill>
        <p:spPr>
          <a:xfrm>
            <a:off x="3781330" y="1838325"/>
            <a:ext cx="190495" cy="190500"/>
          </a:xfrm>
          <a:prstGeom prst="rect">
            <a:avLst/>
          </a:prstGeom>
        </p:spPr>
      </p:pic>
      <p:sp>
        <p:nvSpPr>
          <p:cNvPr id="12" name="Text 8"/>
          <p:cNvSpPr/>
          <p:nvPr/>
        </p:nvSpPr>
        <p:spPr>
          <a:xfrm>
            <a:off x="3619409" y="2317750"/>
            <a:ext cx="2171646"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Backend</a:t>
            </a:r>
            <a:endParaRPr lang="en-US" sz="1700" dirty="0"/>
          </a:p>
        </p:txBody>
      </p:sp>
      <p:sp>
        <p:nvSpPr>
          <p:cNvPr id="13" name="Text 9"/>
          <p:cNvSpPr/>
          <p:nvPr/>
        </p:nvSpPr>
        <p:spPr>
          <a:xfrm>
            <a:off x="3619409" y="2721570"/>
            <a:ext cx="2171646"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Python, FastAPI, Pydantic, SQLAlchemy, Alembic.</a:t>
            </a:r>
            <a:endParaRPr lang="en-US" sz="1700" dirty="0"/>
          </a:p>
        </p:txBody>
      </p:sp>
      <p:sp>
        <p:nvSpPr>
          <p:cNvPr id="14" name="Shape 10"/>
          <p:cNvSpPr/>
          <p:nvPr/>
        </p:nvSpPr>
        <p:spPr>
          <a:xfrm>
            <a:off x="6172046" y="1447800"/>
            <a:ext cx="2628834" cy="2667992"/>
          </a:xfrm>
          <a:prstGeom prst="rect">
            <a:avLst/>
          </a:prstGeom>
          <a:solidFill>
            <a:srgbClr val="111B30"/>
          </a:solidFill>
          <a:ln/>
        </p:spPr>
      </p:sp>
      <p:sp>
        <p:nvSpPr>
          <p:cNvPr id="15" name="Shape 11"/>
          <p:cNvSpPr/>
          <p:nvPr/>
        </p:nvSpPr>
        <p:spPr>
          <a:xfrm>
            <a:off x="6400640" y="1676400"/>
            <a:ext cx="514337" cy="514350"/>
          </a:xfrm>
          <a:prstGeom prst="rect">
            <a:avLst/>
          </a:prstGeom>
          <a:solidFill>
            <a:srgbClr val="00E5FF"/>
          </a:solidFill>
          <a:ln/>
        </p:spPr>
      </p:sp>
      <p:pic>
        <p:nvPicPr>
          <p:cNvPr id="16" name="Image 2" descr="preencoded.png"/>
          <p:cNvPicPr>
            <a:picLocks noChangeAspect="1"/>
          </p:cNvPicPr>
          <p:nvPr/>
        </p:nvPicPr>
        <p:blipFill>
          <a:blip r:embed="rId5"/>
          <a:stretch>
            <a:fillRect/>
          </a:stretch>
        </p:blipFill>
        <p:spPr>
          <a:xfrm>
            <a:off x="6562561" y="1838325"/>
            <a:ext cx="190495" cy="190500"/>
          </a:xfrm>
          <a:prstGeom prst="rect">
            <a:avLst/>
          </a:prstGeom>
        </p:spPr>
      </p:pic>
      <p:sp>
        <p:nvSpPr>
          <p:cNvPr id="17" name="Text 12"/>
          <p:cNvSpPr/>
          <p:nvPr/>
        </p:nvSpPr>
        <p:spPr>
          <a:xfrm>
            <a:off x="6400640" y="2317750"/>
            <a:ext cx="2171646"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Security engine</a:t>
            </a:r>
            <a:endParaRPr lang="en-US" sz="1700" dirty="0"/>
          </a:p>
        </p:txBody>
      </p:sp>
      <p:sp>
        <p:nvSpPr>
          <p:cNvPr id="18" name="Text 13"/>
          <p:cNvSpPr/>
          <p:nvPr/>
        </p:nvSpPr>
        <p:spPr>
          <a:xfrm>
            <a:off x="6400640" y="2721570"/>
            <a:ext cx="2171646"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Nmap, rule-based configuration analyzer, vulnerability enrichment pipeline.</a:t>
            </a:r>
            <a:endParaRPr lang="en-US" sz="1700" dirty="0"/>
          </a:p>
        </p:txBody>
      </p:sp>
      <p:sp>
        <p:nvSpPr>
          <p:cNvPr id="19" name="Shape 14"/>
          <p:cNvSpPr/>
          <p:nvPr/>
        </p:nvSpPr>
        <p:spPr>
          <a:xfrm>
            <a:off x="8953276" y="1447800"/>
            <a:ext cx="2628834" cy="2667992"/>
          </a:xfrm>
          <a:prstGeom prst="rect">
            <a:avLst/>
          </a:prstGeom>
          <a:solidFill>
            <a:srgbClr val="111B30"/>
          </a:solidFill>
          <a:ln/>
        </p:spPr>
      </p:sp>
      <p:sp>
        <p:nvSpPr>
          <p:cNvPr id="20" name="Shape 15"/>
          <p:cNvSpPr/>
          <p:nvPr/>
        </p:nvSpPr>
        <p:spPr>
          <a:xfrm>
            <a:off x="9181870" y="1676400"/>
            <a:ext cx="514337" cy="514350"/>
          </a:xfrm>
          <a:prstGeom prst="rect">
            <a:avLst/>
          </a:prstGeom>
          <a:solidFill>
            <a:srgbClr val="00E5FF"/>
          </a:solidFill>
          <a:ln/>
        </p:spPr>
      </p:sp>
      <p:pic>
        <p:nvPicPr>
          <p:cNvPr id="21" name="Image 3" descr="preencoded.png"/>
          <p:cNvPicPr>
            <a:picLocks noChangeAspect="1"/>
          </p:cNvPicPr>
          <p:nvPr/>
        </p:nvPicPr>
        <p:blipFill>
          <a:blip r:embed="rId6"/>
          <a:stretch>
            <a:fillRect/>
          </a:stretch>
        </p:blipFill>
        <p:spPr>
          <a:xfrm>
            <a:off x="9343791" y="1838325"/>
            <a:ext cx="190495" cy="190500"/>
          </a:xfrm>
          <a:prstGeom prst="rect">
            <a:avLst/>
          </a:prstGeom>
        </p:spPr>
      </p:pic>
      <p:sp>
        <p:nvSpPr>
          <p:cNvPr id="22" name="Text 16"/>
          <p:cNvSpPr/>
          <p:nvPr/>
        </p:nvSpPr>
        <p:spPr>
          <a:xfrm>
            <a:off x="9181870" y="2317750"/>
            <a:ext cx="2171646"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Infrastructure</a:t>
            </a:r>
            <a:endParaRPr lang="en-US" sz="1700" dirty="0"/>
          </a:p>
        </p:txBody>
      </p:sp>
      <p:sp>
        <p:nvSpPr>
          <p:cNvPr id="23" name="Text 17"/>
          <p:cNvSpPr/>
          <p:nvPr/>
        </p:nvSpPr>
        <p:spPr>
          <a:xfrm>
            <a:off x="9181870" y="2721570"/>
            <a:ext cx="2171646"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FFFFFF"/>
                </a:solidFill>
                <a:latin typeface="Hubot Sans" pitchFamily="34" charset="0"/>
                <a:ea typeface="Hubot Sans" pitchFamily="34" charset="-122"/>
                <a:cs typeface="Hubot Sans" pitchFamily="34" charset="-120"/>
              </a:rPr>
              <a:t>PostgreSQL relational database and Docker Compose orchestration.</a:t>
            </a:r>
            <a:endParaRPr lang="en-US" sz="1700" dirty="0"/>
          </a:p>
        </p:txBody>
      </p:sp>
      <p:sp>
        <p:nvSpPr>
          <p:cNvPr id="24" name="Text 18"/>
          <p:cNvSpPr/>
          <p:nvPr/>
        </p:nvSpPr>
        <p:spPr>
          <a:xfrm>
            <a:off x="609585" y="6050359"/>
            <a:ext cx="11582110" cy="198041"/>
          </a:xfrm>
          <a:prstGeom prst="rect">
            <a:avLst/>
          </a:prstGeom>
          <a:noFill/>
          <a:ln/>
        </p:spPr>
        <p:txBody>
          <a:bodyPr wrap="none" lIns="0" tIns="0" rIns="0" bIns="0" rtlCol="0" anchor="t"/>
          <a:lstStyle/>
          <a:p>
            <a:pPr marL="0" indent="0" algn="l">
              <a:lnSpc>
                <a:spcPct val="108000"/>
              </a:lnSpc>
              <a:buNone/>
            </a:pPr>
            <a:r>
              <a:rPr lang="en-US" sz="1200" kern="0" spc="96" dirty="0">
                <a:solidFill>
                  <a:srgbClr val="E2E8E4"/>
                </a:solidFill>
                <a:latin typeface="Martian Mono" pitchFamily="34" charset="0"/>
                <a:ea typeface="Martian Mono" pitchFamily="34" charset="-122"/>
                <a:cs typeface="Martian Mono" pitchFamily="34" charset="-120"/>
              </a:rPr>
              <a:t>MODULAR COMPONENTS SUPPORT INDEPENDENT EVOLUTION OF EXPERIENCE AND SECURITY LOGIC.</a:t>
            </a:r>
            <a:endParaRPr lang="en-US" sz="1200" dirty="0"/>
          </a:p>
        </p:txBody>
      </p:sp>
      <p:pic>
        <p:nvPicPr>
          <p:cNvPr id="26" name="Picture 25">
            <a:extLst>
              <a:ext uri="{FF2B5EF4-FFF2-40B4-BE49-F238E27FC236}">
                <a16:creationId xmlns:a16="http://schemas.microsoft.com/office/drawing/2014/main" id="{5EAB0C71-FB5B-F5EE-1CE4-8D399455DD34}"/>
              </a:ext>
            </a:extLst>
          </p:cNvPr>
          <p:cNvPicPr>
            <a:picLocks noChangeAspect="1"/>
          </p:cNvPicPr>
          <p:nvPr/>
        </p:nvPicPr>
        <p:blipFill>
          <a:blip r:embed="rId7"/>
          <a:stretch>
            <a:fillRect/>
          </a:stretch>
        </p:blipFill>
        <p:spPr>
          <a:xfrm>
            <a:off x="10362737" y="6422322"/>
            <a:ext cx="1828958" cy="3581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3352716"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DEFENSIVE BY DESIGN</a:t>
            </a:r>
            <a:endParaRPr lang="en-US" sz="1100" dirty="0"/>
          </a:p>
        </p:txBody>
      </p:sp>
      <p:sp>
        <p:nvSpPr>
          <p:cNvPr id="3" name="Text 1"/>
          <p:cNvSpPr/>
          <p:nvPr/>
        </p:nvSpPr>
        <p:spPr>
          <a:xfrm>
            <a:off x="609585" y="869950"/>
            <a:ext cx="2743131" cy="3352800"/>
          </a:xfrm>
          <a:prstGeom prst="rect">
            <a:avLst/>
          </a:prstGeom>
          <a:noFill/>
          <a:ln/>
        </p:spPr>
        <p:txBody>
          <a:bodyPr wrap="square" lIns="0" tIns="0" rIns="0" bIns="0" rtlCol="0" anchor="t">
            <a:normAutofit lnSpcReduction="10000"/>
          </a:bodyPr>
          <a:lstStyle/>
          <a:p>
            <a:pPr marL="0" indent="0" algn="l">
              <a:lnSpc>
                <a:spcPct val="73000"/>
              </a:lnSpc>
              <a:buNone/>
            </a:pPr>
            <a:r>
              <a:rPr lang="en-US" sz="5000" kern="0" spc="25" dirty="0">
                <a:solidFill>
                  <a:srgbClr val="F4F5FA"/>
                </a:solidFill>
                <a:latin typeface="Space Grotesk" pitchFamily="34" charset="0"/>
                <a:ea typeface="Space Grotesk" pitchFamily="34" charset="-122"/>
                <a:cs typeface="Space Grotesk" pitchFamily="34" charset="-120"/>
              </a:rPr>
              <a:t>Control the scan.</a:t>
            </a:r>
            <a:endParaRPr lang="en-US" sz="5000" dirty="0"/>
          </a:p>
          <a:p>
            <a:pPr marL="0" indent="0" algn="l">
              <a:lnSpc>
                <a:spcPct val="73000"/>
              </a:lnSpc>
              <a:buNone/>
            </a:pPr>
            <a:r>
              <a:rPr lang="en-US" sz="5000" kern="0" spc="25" dirty="0">
                <a:solidFill>
                  <a:srgbClr val="F4F5FA"/>
                </a:solidFill>
                <a:latin typeface="Space Grotesk" pitchFamily="34" charset="0"/>
                <a:ea typeface="Space Grotesk" pitchFamily="34" charset="-122"/>
                <a:cs typeface="Space Grotesk" pitchFamily="34" charset="-120"/>
              </a:rPr>
              <a:t>Prove the finding.</a:t>
            </a:r>
            <a:endParaRPr lang="en-US" sz="5000" dirty="0"/>
          </a:p>
        </p:txBody>
      </p:sp>
      <p:sp>
        <p:nvSpPr>
          <p:cNvPr id="4" name="Shape 2"/>
          <p:cNvSpPr/>
          <p:nvPr/>
        </p:nvSpPr>
        <p:spPr>
          <a:xfrm>
            <a:off x="609585" y="4492625"/>
            <a:ext cx="905051" cy="38100"/>
          </a:xfrm>
          <a:prstGeom prst="roundRect">
            <a:avLst>
              <a:gd name="adj" fmla="val 49999"/>
            </a:avLst>
          </a:prstGeom>
          <a:solidFill>
            <a:srgbClr val="00E5FF"/>
          </a:solidFill>
          <a:ln/>
        </p:spPr>
      </p:sp>
      <p:sp>
        <p:nvSpPr>
          <p:cNvPr id="5" name="Text 3"/>
          <p:cNvSpPr/>
          <p:nvPr/>
        </p:nvSpPr>
        <p:spPr>
          <a:xfrm>
            <a:off x="609585" y="4778375"/>
            <a:ext cx="2743131" cy="792163"/>
          </a:xfrm>
          <a:prstGeom prst="rect">
            <a:avLst/>
          </a:prstGeom>
          <a:noFill/>
          <a:ln/>
        </p:spPr>
        <p:txBody>
          <a:bodyPr wrap="square" lIns="0" tIns="0" rIns="0" bIns="0" rtlCol="0" anchor="t">
            <a:normAutofit/>
          </a:bodyPr>
          <a:lstStyle/>
          <a:p>
            <a:pPr marL="0" indent="0" algn="l">
              <a:lnSpc>
                <a:spcPct val="108000"/>
              </a:lnSpc>
              <a:buNone/>
            </a:pPr>
            <a:r>
              <a:rPr lang="en-US" sz="1200" b="1" kern="0" spc="12" dirty="0">
                <a:solidFill>
                  <a:srgbClr val="E2E8E4"/>
                </a:solidFill>
                <a:latin typeface="Hubot Sans Bold" pitchFamily="34" charset="0"/>
                <a:ea typeface="Hubot Sans Bold" pitchFamily="34" charset="-122"/>
                <a:cs typeface="Hubot Sans Bold" pitchFamily="34" charset="-120"/>
              </a:rPr>
              <a:t>Defensive by design principles:</a:t>
            </a:r>
            <a:r>
              <a:rPr lang="en-US" sz="1200" kern="0" spc="12" dirty="0">
                <a:solidFill>
                  <a:srgbClr val="E2E8E4"/>
                </a:solidFill>
                <a:latin typeface="Hubot Sans" pitchFamily="34" charset="0"/>
                <a:ea typeface="Hubot Sans" pitchFamily="34" charset="-122"/>
                <a:cs typeface="Hubot Sans" pitchFamily="34" charset="-120"/>
              </a:rPr>
              <a:t> Authorized boundaries only, strictly zero destructive exploitation payloads, evidence-backed findings.</a:t>
            </a:r>
            <a:endParaRPr lang="en-US" sz="1200" dirty="0"/>
          </a:p>
        </p:txBody>
      </p:sp>
      <p:sp>
        <p:nvSpPr>
          <p:cNvPr id="6" name="Shape 4"/>
          <p:cNvSpPr/>
          <p:nvPr/>
        </p:nvSpPr>
        <p:spPr>
          <a:xfrm>
            <a:off x="4267093" y="0"/>
            <a:ext cx="3886103" cy="2959497"/>
          </a:xfrm>
          <a:prstGeom prst="rect">
            <a:avLst/>
          </a:prstGeom>
          <a:solidFill>
            <a:srgbClr val="111B30"/>
          </a:solidFill>
          <a:ln/>
        </p:spPr>
      </p:sp>
      <p:pic>
        <p:nvPicPr>
          <p:cNvPr id="7" name="Image 0" descr="preencoded.png"/>
          <p:cNvPicPr>
            <a:picLocks noChangeAspect="1"/>
          </p:cNvPicPr>
          <p:nvPr/>
        </p:nvPicPr>
        <p:blipFill>
          <a:blip r:embed="rId3"/>
          <a:stretch>
            <a:fillRect/>
          </a:stretch>
        </p:blipFill>
        <p:spPr>
          <a:xfrm>
            <a:off x="4876678" y="609600"/>
            <a:ext cx="431789" cy="431800"/>
          </a:xfrm>
          <a:prstGeom prst="rect">
            <a:avLst/>
          </a:prstGeom>
        </p:spPr>
      </p:pic>
      <p:sp>
        <p:nvSpPr>
          <p:cNvPr id="8" name="Text 5"/>
          <p:cNvSpPr/>
          <p:nvPr/>
        </p:nvSpPr>
        <p:spPr>
          <a:xfrm>
            <a:off x="4876678" y="1235075"/>
            <a:ext cx="2666933"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Access governance</a:t>
            </a:r>
            <a:endParaRPr lang="en-US" sz="1700" dirty="0"/>
          </a:p>
        </p:txBody>
      </p:sp>
      <p:sp>
        <p:nvSpPr>
          <p:cNvPr id="9" name="Text 6"/>
          <p:cNvSpPr/>
          <p:nvPr/>
        </p:nvSpPr>
        <p:spPr>
          <a:xfrm>
            <a:off x="4876678" y="1638895"/>
            <a:ext cx="2666933" cy="694134"/>
          </a:xfrm>
          <a:prstGeom prst="rect">
            <a:avLst/>
          </a:prstGeom>
          <a:noFill/>
          <a:ln/>
        </p:spPr>
        <p:txBody>
          <a:bodyPr wrap="square" lIns="0" tIns="0" rIns="0" bIns="0" rtlCol="0" anchor="t">
            <a:normAutofit/>
          </a:bodyPr>
          <a:lstStyle/>
          <a:p>
            <a:pPr marL="0" indent="0" algn="l">
              <a:lnSpc>
                <a:spcPct val="113000"/>
              </a:lnSpc>
              <a:buNone/>
            </a:pPr>
            <a:r>
              <a:rPr lang="en-US" sz="1350" dirty="0">
                <a:solidFill>
                  <a:srgbClr val="FFFFFF"/>
                </a:solidFill>
                <a:latin typeface="Hubot Sans" pitchFamily="34" charset="0"/>
                <a:ea typeface="Hubot Sans" pitchFamily="34" charset="-122"/>
                <a:cs typeface="Hubot Sans" pitchFamily="34" charset="-120"/>
              </a:rPr>
              <a:t>JWT-based token authentication paired with role-aware permissions.</a:t>
            </a:r>
            <a:endParaRPr lang="en-US" sz="1350" dirty="0"/>
          </a:p>
        </p:txBody>
      </p:sp>
      <p:sp>
        <p:nvSpPr>
          <p:cNvPr id="10" name="Shape 7"/>
          <p:cNvSpPr/>
          <p:nvPr/>
        </p:nvSpPr>
        <p:spPr>
          <a:xfrm>
            <a:off x="8305592" y="0"/>
            <a:ext cx="3886103" cy="2959497"/>
          </a:xfrm>
          <a:prstGeom prst="rect">
            <a:avLst/>
          </a:prstGeom>
          <a:solidFill>
            <a:srgbClr val="111B30"/>
          </a:solidFill>
          <a:ln/>
        </p:spPr>
      </p:sp>
      <p:pic>
        <p:nvPicPr>
          <p:cNvPr id="11" name="Image 1" descr="preencoded.png"/>
          <p:cNvPicPr>
            <a:picLocks noChangeAspect="1"/>
          </p:cNvPicPr>
          <p:nvPr/>
        </p:nvPicPr>
        <p:blipFill>
          <a:blip r:embed="rId4"/>
          <a:stretch>
            <a:fillRect/>
          </a:stretch>
        </p:blipFill>
        <p:spPr>
          <a:xfrm>
            <a:off x="8915177" y="609600"/>
            <a:ext cx="431789" cy="431800"/>
          </a:xfrm>
          <a:prstGeom prst="rect">
            <a:avLst/>
          </a:prstGeom>
        </p:spPr>
      </p:pic>
      <p:sp>
        <p:nvSpPr>
          <p:cNvPr id="12" name="Text 8"/>
          <p:cNvSpPr/>
          <p:nvPr/>
        </p:nvSpPr>
        <p:spPr>
          <a:xfrm>
            <a:off x="8915177" y="1235075"/>
            <a:ext cx="2666933" cy="496491"/>
          </a:xfrm>
          <a:prstGeom prst="rect">
            <a:avLst/>
          </a:prstGeom>
          <a:noFill/>
          <a:ln/>
        </p:spPr>
        <p:txBody>
          <a:bodyPr wrap="square" lIns="0" tIns="0" rIns="0" bIns="0" rtlCol="0" anchor="t">
            <a:normAutofit lnSpcReduction="10000"/>
          </a:bodyPr>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Controlled reconnaissance</a:t>
            </a:r>
            <a:endParaRPr lang="en-US" sz="1700" dirty="0"/>
          </a:p>
        </p:txBody>
      </p:sp>
      <p:sp>
        <p:nvSpPr>
          <p:cNvPr id="13" name="Text 9"/>
          <p:cNvSpPr/>
          <p:nvPr/>
        </p:nvSpPr>
        <p:spPr>
          <a:xfrm>
            <a:off x="8915177" y="1887141"/>
            <a:ext cx="2666933" cy="462756"/>
          </a:xfrm>
          <a:prstGeom prst="rect">
            <a:avLst/>
          </a:prstGeom>
          <a:noFill/>
          <a:ln/>
        </p:spPr>
        <p:txBody>
          <a:bodyPr wrap="square" lIns="0" tIns="0" rIns="0" bIns="0" rtlCol="0" anchor="t">
            <a:normAutofit/>
          </a:bodyPr>
          <a:lstStyle/>
          <a:p>
            <a:pPr marL="0" indent="0" algn="l">
              <a:lnSpc>
                <a:spcPct val="113000"/>
              </a:lnSpc>
              <a:buNone/>
            </a:pPr>
            <a:r>
              <a:rPr lang="en-US" sz="1350" dirty="0">
                <a:solidFill>
                  <a:srgbClr val="FFFFFF"/>
                </a:solidFill>
                <a:latin typeface="Hubot Sans" pitchFamily="34" charset="0"/>
                <a:ea typeface="Hubot Sans" pitchFamily="34" charset="-122"/>
                <a:cs typeface="Hubot Sans" pitchFamily="34" charset="-120"/>
              </a:rPr>
              <a:t>Granular scan profiles tailored strictly for defensive evaluation.</a:t>
            </a:r>
            <a:endParaRPr lang="en-US" sz="1350" dirty="0"/>
          </a:p>
        </p:txBody>
      </p:sp>
      <p:sp>
        <p:nvSpPr>
          <p:cNvPr id="14" name="Shape 10"/>
          <p:cNvSpPr/>
          <p:nvPr/>
        </p:nvSpPr>
        <p:spPr>
          <a:xfrm>
            <a:off x="4267093" y="3111897"/>
            <a:ext cx="3886103" cy="3190875"/>
          </a:xfrm>
          <a:prstGeom prst="rect">
            <a:avLst/>
          </a:prstGeom>
          <a:solidFill>
            <a:srgbClr val="111B30"/>
          </a:solidFill>
          <a:ln/>
        </p:spPr>
      </p:sp>
      <p:pic>
        <p:nvPicPr>
          <p:cNvPr id="15" name="Image 2" descr="preencoded.png"/>
          <p:cNvPicPr>
            <a:picLocks noChangeAspect="1"/>
          </p:cNvPicPr>
          <p:nvPr/>
        </p:nvPicPr>
        <p:blipFill>
          <a:blip r:embed="rId5"/>
          <a:stretch>
            <a:fillRect/>
          </a:stretch>
        </p:blipFill>
        <p:spPr>
          <a:xfrm>
            <a:off x="4876678" y="3721497"/>
            <a:ext cx="431789" cy="431800"/>
          </a:xfrm>
          <a:prstGeom prst="rect">
            <a:avLst/>
          </a:prstGeom>
        </p:spPr>
      </p:pic>
      <p:sp>
        <p:nvSpPr>
          <p:cNvPr id="16" name="Text 11"/>
          <p:cNvSpPr/>
          <p:nvPr/>
        </p:nvSpPr>
        <p:spPr>
          <a:xfrm>
            <a:off x="4876678" y="4346972"/>
            <a:ext cx="2666933" cy="496491"/>
          </a:xfrm>
          <a:prstGeom prst="rect">
            <a:avLst/>
          </a:prstGeom>
          <a:noFill/>
          <a:ln/>
        </p:spPr>
        <p:txBody>
          <a:bodyPr wrap="square" lIns="0" tIns="0" rIns="0" bIns="0" rtlCol="0" anchor="t">
            <a:normAutofit lnSpcReduction="10000"/>
          </a:bodyPr>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Risk &amp; vulnerability scoring</a:t>
            </a:r>
            <a:endParaRPr lang="en-US" sz="1700" dirty="0"/>
          </a:p>
        </p:txBody>
      </p:sp>
      <p:sp>
        <p:nvSpPr>
          <p:cNvPr id="17" name="Text 12"/>
          <p:cNvSpPr/>
          <p:nvPr/>
        </p:nvSpPr>
        <p:spPr>
          <a:xfrm>
            <a:off x="4876678" y="4999038"/>
            <a:ext cx="2666933" cy="694134"/>
          </a:xfrm>
          <a:prstGeom prst="rect">
            <a:avLst/>
          </a:prstGeom>
          <a:noFill/>
          <a:ln/>
        </p:spPr>
        <p:txBody>
          <a:bodyPr wrap="square" lIns="0" tIns="0" rIns="0" bIns="0" rtlCol="0" anchor="t">
            <a:normAutofit/>
          </a:bodyPr>
          <a:lstStyle/>
          <a:p>
            <a:pPr marL="0" indent="0" algn="l">
              <a:lnSpc>
                <a:spcPct val="113000"/>
              </a:lnSpc>
              <a:buNone/>
            </a:pPr>
            <a:r>
              <a:rPr lang="en-US" sz="1350" dirty="0">
                <a:solidFill>
                  <a:srgbClr val="FFFFFF"/>
                </a:solidFill>
                <a:latin typeface="Hubot Sans" pitchFamily="34" charset="0"/>
                <a:ea typeface="Hubot Sans" pitchFamily="34" charset="-122"/>
                <a:cs typeface="Hubot Sans" pitchFamily="34" charset="-120"/>
              </a:rPr>
              <a:t>Automated severity categorization with contextual score weighting.</a:t>
            </a:r>
            <a:endParaRPr lang="en-US" sz="1350" dirty="0"/>
          </a:p>
        </p:txBody>
      </p:sp>
      <p:sp>
        <p:nvSpPr>
          <p:cNvPr id="18" name="Shape 13"/>
          <p:cNvSpPr/>
          <p:nvPr/>
        </p:nvSpPr>
        <p:spPr>
          <a:xfrm>
            <a:off x="8305592" y="3111897"/>
            <a:ext cx="3886103" cy="3190875"/>
          </a:xfrm>
          <a:prstGeom prst="rect">
            <a:avLst/>
          </a:prstGeom>
          <a:solidFill>
            <a:srgbClr val="111B30"/>
          </a:solidFill>
          <a:ln/>
        </p:spPr>
      </p:sp>
      <p:pic>
        <p:nvPicPr>
          <p:cNvPr id="19" name="Image 3" descr="preencoded.png"/>
          <p:cNvPicPr>
            <a:picLocks noChangeAspect="1"/>
          </p:cNvPicPr>
          <p:nvPr/>
        </p:nvPicPr>
        <p:blipFill>
          <a:blip r:embed="rId6"/>
          <a:stretch>
            <a:fillRect/>
          </a:stretch>
        </p:blipFill>
        <p:spPr>
          <a:xfrm>
            <a:off x="8915177" y="3721497"/>
            <a:ext cx="431789" cy="431800"/>
          </a:xfrm>
          <a:prstGeom prst="rect">
            <a:avLst/>
          </a:prstGeom>
        </p:spPr>
      </p:pic>
      <p:sp>
        <p:nvSpPr>
          <p:cNvPr id="20" name="Text 14"/>
          <p:cNvSpPr/>
          <p:nvPr/>
        </p:nvSpPr>
        <p:spPr>
          <a:xfrm>
            <a:off x="8915177" y="4346972"/>
            <a:ext cx="2666933" cy="248245"/>
          </a:xfrm>
          <a:prstGeom prst="rect">
            <a:avLst/>
          </a:prstGeom>
          <a:noFill/>
          <a:ln/>
        </p:spPr>
        <p:txBody>
          <a:bodyPr wrap="none" lIns="0" tIns="0" rIns="0" bIns="0" rtlCol="0" anchor="t"/>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Traceable reporting</a:t>
            </a:r>
            <a:endParaRPr lang="en-US" sz="1700" dirty="0"/>
          </a:p>
        </p:txBody>
      </p:sp>
      <p:sp>
        <p:nvSpPr>
          <p:cNvPr id="21" name="Text 15"/>
          <p:cNvSpPr/>
          <p:nvPr/>
        </p:nvSpPr>
        <p:spPr>
          <a:xfrm>
            <a:off x="8915177" y="4750792"/>
            <a:ext cx="2666933" cy="694134"/>
          </a:xfrm>
          <a:prstGeom prst="rect">
            <a:avLst/>
          </a:prstGeom>
          <a:noFill/>
          <a:ln/>
        </p:spPr>
        <p:txBody>
          <a:bodyPr wrap="square" lIns="0" tIns="0" rIns="0" bIns="0" rtlCol="0" anchor="t">
            <a:normAutofit/>
          </a:bodyPr>
          <a:lstStyle/>
          <a:p>
            <a:pPr marL="0" indent="0" algn="l">
              <a:lnSpc>
                <a:spcPct val="113000"/>
              </a:lnSpc>
              <a:buNone/>
            </a:pPr>
            <a:r>
              <a:rPr lang="en-US" sz="1350" dirty="0">
                <a:solidFill>
                  <a:srgbClr val="FFFFFF"/>
                </a:solidFill>
                <a:latin typeface="Hubot Sans" pitchFamily="34" charset="0"/>
                <a:ea typeface="Hubot Sans" pitchFamily="34" charset="-122"/>
                <a:cs typeface="Hubot Sans" pitchFamily="34" charset="-120"/>
              </a:rPr>
              <a:t>Complete JSON schemas, executive PDF documentation, and detailed audit logs.</a:t>
            </a:r>
            <a:endParaRPr lang="en-US" sz="1350" dirty="0"/>
          </a:p>
        </p:txBody>
      </p:sp>
      <p:pic>
        <p:nvPicPr>
          <p:cNvPr id="23" name="Picture 22">
            <a:extLst>
              <a:ext uri="{FF2B5EF4-FFF2-40B4-BE49-F238E27FC236}">
                <a16:creationId xmlns:a16="http://schemas.microsoft.com/office/drawing/2014/main" id="{B571B53B-9A1F-1D09-8714-232A89AD85E6}"/>
              </a:ext>
            </a:extLst>
          </p:cNvPr>
          <p:cNvPicPr>
            <a:picLocks noChangeAspect="1"/>
          </p:cNvPicPr>
          <p:nvPr/>
        </p:nvPicPr>
        <p:blipFill>
          <a:blip r:embed="rId7"/>
          <a:stretch>
            <a:fillRect/>
          </a:stretch>
        </p:blipFill>
        <p:spPr>
          <a:xfrm>
            <a:off x="10362737" y="6467172"/>
            <a:ext cx="1828958" cy="3581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6299042"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VALIDATION · LOCALHOST TEST ENVIRONMENT</a:t>
            </a:r>
            <a:endParaRPr lang="en-US" sz="1100" dirty="0"/>
          </a:p>
        </p:txBody>
      </p:sp>
      <p:sp>
        <p:nvSpPr>
          <p:cNvPr id="3" name="Text 1"/>
          <p:cNvSpPr/>
          <p:nvPr/>
        </p:nvSpPr>
        <p:spPr>
          <a:xfrm>
            <a:off x="609585" y="869950"/>
            <a:ext cx="5689458" cy="1609328"/>
          </a:xfrm>
          <a:prstGeom prst="rect">
            <a:avLst/>
          </a:prstGeom>
          <a:noFill/>
          <a:ln/>
        </p:spPr>
        <p:txBody>
          <a:bodyPr wrap="none" lIns="0" tIns="0" rIns="0" bIns="0" rtlCol="0" anchor="t"/>
          <a:lstStyle/>
          <a:p>
            <a:pPr marL="0" indent="0" algn="l">
              <a:lnSpc>
                <a:spcPct val="73000"/>
              </a:lnSpc>
              <a:buNone/>
            </a:pPr>
            <a:r>
              <a:rPr lang="en-US" sz="14400" kern="0" spc="-144" dirty="0">
                <a:solidFill>
                  <a:srgbClr val="00E5FF"/>
                </a:solidFill>
                <a:latin typeface="Space Grotesk" pitchFamily="34" charset="0"/>
                <a:ea typeface="Space Grotesk" pitchFamily="34" charset="-122"/>
                <a:cs typeface="Space Grotesk" pitchFamily="34" charset="-120"/>
              </a:rPr>
              <a:t>5.0</a:t>
            </a:r>
            <a:r>
              <a:rPr lang="en-US" sz="4600" kern="0" spc="-144" dirty="0">
                <a:solidFill>
                  <a:srgbClr val="F4F5FA"/>
                </a:solidFill>
                <a:latin typeface="Space Grotesk" pitchFamily="34" charset="0"/>
                <a:ea typeface="Space Grotesk" pitchFamily="34" charset="-122"/>
                <a:cs typeface="Space Grotesk" pitchFamily="34" charset="-120"/>
              </a:rPr>
              <a:t> / 100</a:t>
            </a:r>
            <a:endParaRPr lang="en-US" sz="14400" dirty="0"/>
          </a:p>
        </p:txBody>
      </p:sp>
      <p:sp>
        <p:nvSpPr>
          <p:cNvPr id="4" name="Text 2"/>
          <p:cNvSpPr/>
          <p:nvPr/>
        </p:nvSpPr>
        <p:spPr>
          <a:xfrm>
            <a:off x="609585" y="2672953"/>
            <a:ext cx="5689458" cy="723900"/>
          </a:xfrm>
          <a:prstGeom prst="rect">
            <a:avLst/>
          </a:prstGeom>
          <a:noFill/>
          <a:ln/>
        </p:spPr>
        <p:txBody>
          <a:bodyPr wrap="square" lIns="0" tIns="0" rIns="0" bIns="0" rtlCol="0" anchor="t">
            <a:normAutofit lnSpcReduction="10000"/>
          </a:bodyPr>
          <a:lstStyle/>
          <a:p>
            <a:pPr marL="0" indent="0" algn="l">
              <a:lnSpc>
                <a:spcPct val="79000"/>
              </a:lnSpc>
              <a:buNone/>
            </a:pPr>
            <a:r>
              <a:rPr lang="en-US" sz="3000" kern="0" spc="15" dirty="0">
                <a:solidFill>
                  <a:srgbClr val="F4F5FA"/>
                </a:solidFill>
                <a:latin typeface="Space Grotesk" pitchFamily="34" charset="0"/>
                <a:ea typeface="Space Grotesk" pitchFamily="34" charset="-122"/>
                <a:cs typeface="Space Grotesk" pitchFamily="34" charset="-120"/>
              </a:rPr>
              <a:t>Informational severity, backed by a complete evidence trail.</a:t>
            </a:r>
            <a:endParaRPr lang="en-US" sz="3000" dirty="0"/>
          </a:p>
        </p:txBody>
      </p:sp>
      <p:sp>
        <p:nvSpPr>
          <p:cNvPr id="5" name="Shape 3"/>
          <p:cNvSpPr/>
          <p:nvPr/>
        </p:nvSpPr>
        <p:spPr>
          <a:xfrm>
            <a:off x="609585" y="3612753"/>
            <a:ext cx="5689458" cy="1828800"/>
          </a:xfrm>
          <a:prstGeom prst="rect">
            <a:avLst/>
          </a:prstGeom>
          <a:solidFill>
            <a:srgbClr val="111B30"/>
          </a:solidFill>
          <a:ln/>
        </p:spPr>
      </p:sp>
      <p:sp>
        <p:nvSpPr>
          <p:cNvPr id="6" name="Text 4"/>
          <p:cNvSpPr/>
          <p:nvPr/>
        </p:nvSpPr>
        <p:spPr>
          <a:xfrm>
            <a:off x="838179" y="3841353"/>
            <a:ext cx="5232269" cy="1371600"/>
          </a:xfrm>
          <a:prstGeom prst="rect">
            <a:avLst/>
          </a:prstGeom>
          <a:noFill/>
          <a:ln/>
        </p:spPr>
        <p:txBody>
          <a:bodyPr wrap="square" lIns="0" tIns="0" rIns="0" bIns="0" rtlCol="0" anchor="t">
            <a:normAutofit/>
          </a:bodyPr>
          <a:lstStyle/>
          <a:p>
            <a:pPr marL="0" indent="0" algn="l">
              <a:lnSpc>
                <a:spcPct val="112000"/>
              </a:lnSpc>
              <a:buNone/>
            </a:pPr>
            <a:r>
              <a:rPr lang="en-US" sz="2000" dirty="0">
                <a:solidFill>
                  <a:srgbClr val="FFFFFF"/>
                </a:solidFill>
                <a:latin typeface="Hubot Sans" pitchFamily="34" charset="0"/>
                <a:ea typeface="Hubot Sans" pitchFamily="34" charset="-122"/>
                <a:cs typeface="Hubot Sans" pitchFamily="34" charset="-120"/>
              </a:rPr>
              <a:t>Standard reconnaissance identified a service banner and version disclosure in HTTP headers—an observable configuration finding, not an exploitation result.</a:t>
            </a:r>
            <a:endParaRPr lang="en-US" sz="2000" dirty="0"/>
          </a:p>
        </p:txBody>
      </p:sp>
      <p:sp>
        <p:nvSpPr>
          <p:cNvPr id="7" name="Text 5"/>
          <p:cNvSpPr/>
          <p:nvPr/>
        </p:nvSpPr>
        <p:spPr>
          <a:xfrm>
            <a:off x="609585" y="5635228"/>
            <a:ext cx="5689458" cy="396081"/>
          </a:xfrm>
          <a:prstGeom prst="rect">
            <a:avLst/>
          </a:prstGeom>
          <a:noFill/>
          <a:ln/>
        </p:spPr>
        <p:txBody>
          <a:bodyPr wrap="square" lIns="0" tIns="0" rIns="0" bIns="0" rtlCol="0" anchor="t">
            <a:normAutofit/>
          </a:bodyPr>
          <a:lstStyle/>
          <a:p>
            <a:pPr marL="0" indent="0" algn="l">
              <a:lnSpc>
                <a:spcPct val="108000"/>
              </a:lnSpc>
              <a:buNone/>
            </a:pPr>
            <a:r>
              <a:rPr lang="en-US" sz="1200" kern="0" spc="96" dirty="0">
                <a:solidFill>
                  <a:srgbClr val="E2E8E4"/>
                </a:solidFill>
                <a:latin typeface="Martian Mono" pitchFamily="34" charset="0"/>
                <a:ea typeface="Martian Mono" pitchFamily="34" charset="-122"/>
                <a:cs typeface="Martian Mono" pitchFamily="34" charset="-120"/>
              </a:rPr>
              <a:t>TARGET · 127.0.0.1 · STANDARD RECONNAISSANCE SCAN</a:t>
            </a:r>
            <a:endParaRPr lang="en-US" sz="1200" dirty="0"/>
          </a:p>
        </p:txBody>
      </p:sp>
      <p:pic>
        <p:nvPicPr>
          <p:cNvPr id="8" name="Image 0" descr="preencoded.png"/>
          <p:cNvPicPr>
            <a:picLocks noChangeAspect="1"/>
          </p:cNvPicPr>
          <p:nvPr/>
        </p:nvPicPr>
        <p:blipFill>
          <a:blip r:embed="rId3"/>
          <a:stretch>
            <a:fillRect/>
          </a:stretch>
        </p:blipFill>
        <p:spPr>
          <a:xfrm>
            <a:off x="6908627" y="0"/>
            <a:ext cx="5283068"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6126406"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USER INTERFACE &amp; SOC EXPERIENCE</a:t>
            </a:r>
            <a:endParaRPr lang="en-US" sz="1100" dirty="0"/>
          </a:p>
        </p:txBody>
      </p:sp>
      <p:sp>
        <p:nvSpPr>
          <p:cNvPr id="3" name="Text 1"/>
          <p:cNvSpPr/>
          <p:nvPr/>
        </p:nvSpPr>
        <p:spPr>
          <a:xfrm>
            <a:off x="609585" y="869950"/>
            <a:ext cx="5516821" cy="723900"/>
          </a:xfrm>
          <a:prstGeom prst="rect">
            <a:avLst/>
          </a:prstGeom>
          <a:noFill/>
          <a:ln/>
        </p:spPr>
        <p:txBody>
          <a:bodyPr wrap="square" lIns="0" tIns="0" rIns="0" bIns="0" rtlCol="0" anchor="t">
            <a:normAutofit lnSpcReduction="10000"/>
          </a:bodyPr>
          <a:lstStyle/>
          <a:p>
            <a:pPr marL="0" indent="0" algn="l">
              <a:lnSpc>
                <a:spcPct val="79000"/>
              </a:lnSpc>
              <a:buNone/>
            </a:pPr>
            <a:r>
              <a:rPr lang="en-US" sz="3000" kern="0" spc="15" dirty="0">
                <a:solidFill>
                  <a:srgbClr val="F4F5FA"/>
                </a:solidFill>
                <a:latin typeface="Space Grotesk" pitchFamily="34" charset="0"/>
                <a:ea typeface="Space Grotesk" pitchFamily="34" charset="-122"/>
                <a:cs typeface="Space Grotesk" pitchFamily="34" charset="-120"/>
              </a:rPr>
              <a:t>User Interface &amp; SOC Dashboard Experience</a:t>
            </a:r>
            <a:endParaRPr lang="en-US" sz="3000" dirty="0"/>
          </a:p>
        </p:txBody>
      </p:sp>
      <p:sp>
        <p:nvSpPr>
          <p:cNvPr id="4" name="Shape 2"/>
          <p:cNvSpPr/>
          <p:nvPr/>
        </p:nvSpPr>
        <p:spPr>
          <a:xfrm>
            <a:off x="609585" y="1809750"/>
            <a:ext cx="2682213" cy="2034778"/>
          </a:xfrm>
          <a:prstGeom prst="rect">
            <a:avLst/>
          </a:prstGeom>
          <a:solidFill>
            <a:srgbClr val="111B30"/>
          </a:solidFill>
          <a:ln/>
        </p:spPr>
      </p:sp>
      <p:sp>
        <p:nvSpPr>
          <p:cNvPr id="5" name="Text 3"/>
          <p:cNvSpPr/>
          <p:nvPr/>
        </p:nvSpPr>
        <p:spPr>
          <a:xfrm>
            <a:off x="838179" y="2038350"/>
            <a:ext cx="2225024" cy="496491"/>
          </a:xfrm>
          <a:prstGeom prst="rect">
            <a:avLst/>
          </a:prstGeom>
          <a:noFill/>
          <a:ln/>
        </p:spPr>
        <p:txBody>
          <a:bodyPr wrap="square" lIns="0" tIns="0" rIns="0" bIns="0" rtlCol="0" anchor="t">
            <a:normAutofit lnSpcReduction="10000"/>
          </a:bodyPr>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SOC Command Center</a:t>
            </a:r>
            <a:endParaRPr lang="en-US" sz="1700" dirty="0"/>
          </a:p>
        </p:txBody>
      </p:sp>
      <p:sp>
        <p:nvSpPr>
          <p:cNvPr id="6" name="Text 4"/>
          <p:cNvSpPr/>
          <p:nvPr/>
        </p:nvSpPr>
        <p:spPr>
          <a:xfrm>
            <a:off x="838179" y="2690416"/>
            <a:ext cx="2225024" cy="925513"/>
          </a:xfrm>
          <a:prstGeom prst="rect">
            <a:avLst/>
          </a:prstGeom>
          <a:noFill/>
          <a:ln/>
        </p:spPr>
        <p:txBody>
          <a:bodyPr wrap="square" lIns="0" tIns="0" rIns="0" bIns="0" rtlCol="0" anchor="t">
            <a:normAutofit/>
          </a:bodyPr>
          <a:lstStyle/>
          <a:p>
            <a:pPr marL="0" indent="0" algn="l">
              <a:lnSpc>
                <a:spcPct val="113000"/>
              </a:lnSpc>
              <a:buNone/>
            </a:pPr>
            <a:r>
              <a:rPr lang="en-US" sz="1350" dirty="0">
                <a:solidFill>
                  <a:srgbClr val="FFFFFF"/>
                </a:solidFill>
                <a:latin typeface="Hubot Sans" pitchFamily="34" charset="0"/>
                <a:ea typeface="Hubot Sans" pitchFamily="34" charset="-122"/>
                <a:cs typeface="Hubot Sans" pitchFamily="34" charset="-120"/>
              </a:rPr>
              <a:t>Dark-mode command dashboard offering telemetry and real-time operational feeds.</a:t>
            </a:r>
            <a:endParaRPr lang="en-US" sz="1350" dirty="0"/>
          </a:p>
        </p:txBody>
      </p:sp>
      <p:sp>
        <p:nvSpPr>
          <p:cNvPr id="7" name="Shape 5"/>
          <p:cNvSpPr/>
          <p:nvPr/>
        </p:nvSpPr>
        <p:spPr>
          <a:xfrm>
            <a:off x="3444194" y="1809750"/>
            <a:ext cx="2682213" cy="2034778"/>
          </a:xfrm>
          <a:prstGeom prst="rect">
            <a:avLst/>
          </a:prstGeom>
          <a:solidFill>
            <a:srgbClr val="111B30"/>
          </a:solidFill>
          <a:ln/>
        </p:spPr>
      </p:sp>
      <p:sp>
        <p:nvSpPr>
          <p:cNvPr id="8" name="Text 6"/>
          <p:cNvSpPr/>
          <p:nvPr/>
        </p:nvSpPr>
        <p:spPr>
          <a:xfrm>
            <a:off x="3672788" y="2038350"/>
            <a:ext cx="2225024" cy="496491"/>
          </a:xfrm>
          <a:prstGeom prst="rect">
            <a:avLst/>
          </a:prstGeom>
          <a:noFill/>
          <a:ln/>
        </p:spPr>
        <p:txBody>
          <a:bodyPr wrap="square" lIns="0" tIns="0" rIns="0" bIns="0" rtlCol="0" anchor="t">
            <a:normAutofit lnSpcReduction="10000"/>
          </a:bodyPr>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3D cyber environment</a:t>
            </a:r>
            <a:endParaRPr lang="en-US" sz="1700" dirty="0"/>
          </a:p>
        </p:txBody>
      </p:sp>
      <p:sp>
        <p:nvSpPr>
          <p:cNvPr id="9" name="Text 7"/>
          <p:cNvSpPr/>
          <p:nvPr/>
        </p:nvSpPr>
        <p:spPr>
          <a:xfrm>
            <a:off x="3672788" y="2690416"/>
            <a:ext cx="2225024" cy="925513"/>
          </a:xfrm>
          <a:prstGeom prst="rect">
            <a:avLst/>
          </a:prstGeom>
          <a:noFill/>
          <a:ln/>
        </p:spPr>
        <p:txBody>
          <a:bodyPr wrap="square" lIns="0" tIns="0" rIns="0" bIns="0" rtlCol="0" anchor="t">
            <a:normAutofit/>
          </a:bodyPr>
          <a:lstStyle/>
          <a:p>
            <a:pPr marL="0" indent="0" algn="l">
              <a:lnSpc>
                <a:spcPct val="113000"/>
              </a:lnSpc>
              <a:buNone/>
            </a:pPr>
            <a:r>
              <a:rPr lang="en-US" sz="1350" dirty="0">
                <a:solidFill>
                  <a:srgbClr val="FFFFFF"/>
                </a:solidFill>
                <a:latin typeface="Hubot Sans" pitchFamily="34" charset="0"/>
                <a:ea typeface="Hubot Sans" pitchFamily="34" charset="-122"/>
                <a:cs typeface="Hubot Sans" pitchFamily="34" charset="-120"/>
              </a:rPr>
              <a:t>Three.js interactive visualizer with particle networks and HUD radar rings.</a:t>
            </a:r>
            <a:endParaRPr lang="en-US" sz="1350" dirty="0"/>
          </a:p>
        </p:txBody>
      </p:sp>
      <p:sp>
        <p:nvSpPr>
          <p:cNvPr id="10" name="Shape 8"/>
          <p:cNvSpPr/>
          <p:nvPr/>
        </p:nvSpPr>
        <p:spPr>
          <a:xfrm>
            <a:off x="609585" y="3996928"/>
            <a:ext cx="2682213" cy="2034778"/>
          </a:xfrm>
          <a:prstGeom prst="rect">
            <a:avLst/>
          </a:prstGeom>
          <a:solidFill>
            <a:srgbClr val="111B30"/>
          </a:solidFill>
          <a:ln/>
        </p:spPr>
      </p:sp>
      <p:sp>
        <p:nvSpPr>
          <p:cNvPr id="11" name="Text 9"/>
          <p:cNvSpPr/>
          <p:nvPr/>
        </p:nvSpPr>
        <p:spPr>
          <a:xfrm>
            <a:off x="838179" y="4225528"/>
            <a:ext cx="2225024" cy="496491"/>
          </a:xfrm>
          <a:prstGeom prst="rect">
            <a:avLst/>
          </a:prstGeom>
          <a:noFill/>
          <a:ln/>
        </p:spPr>
        <p:txBody>
          <a:bodyPr wrap="square" lIns="0" tIns="0" rIns="0" bIns="0" rtlCol="0" anchor="t">
            <a:normAutofit lnSpcReduction="10000"/>
          </a:bodyPr>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Interactive visual elements</a:t>
            </a:r>
            <a:endParaRPr lang="en-US" sz="1700" dirty="0"/>
          </a:p>
        </p:txBody>
      </p:sp>
      <p:sp>
        <p:nvSpPr>
          <p:cNvPr id="12" name="Text 10"/>
          <p:cNvSpPr/>
          <p:nvPr/>
        </p:nvSpPr>
        <p:spPr>
          <a:xfrm>
            <a:off x="838179" y="4877594"/>
            <a:ext cx="2225024" cy="925513"/>
          </a:xfrm>
          <a:prstGeom prst="rect">
            <a:avLst/>
          </a:prstGeom>
          <a:noFill/>
          <a:ln/>
        </p:spPr>
        <p:txBody>
          <a:bodyPr wrap="square" lIns="0" tIns="0" rIns="0" bIns="0" rtlCol="0" anchor="t">
            <a:normAutofit/>
          </a:bodyPr>
          <a:lstStyle/>
          <a:p>
            <a:pPr marL="0" indent="0" algn="l">
              <a:lnSpc>
                <a:spcPct val="113000"/>
              </a:lnSpc>
              <a:buNone/>
            </a:pPr>
            <a:r>
              <a:rPr lang="en-US" sz="1350" dirty="0">
                <a:solidFill>
                  <a:srgbClr val="FFFFFF"/>
                </a:solidFill>
                <a:latin typeface="Hubot Sans" pitchFamily="34" charset="0"/>
                <a:ea typeface="Hubot Sans" pitchFamily="34" charset="-122"/>
                <a:cs typeface="Hubot Sans" pitchFamily="34" charset="-120"/>
              </a:rPr>
              <a:t>Custom animated spider-like cyber cursor with procedural gait reactions to clicks and hover states.</a:t>
            </a:r>
            <a:endParaRPr lang="en-US" sz="1350" dirty="0"/>
          </a:p>
        </p:txBody>
      </p:sp>
      <p:sp>
        <p:nvSpPr>
          <p:cNvPr id="13" name="Shape 11"/>
          <p:cNvSpPr/>
          <p:nvPr/>
        </p:nvSpPr>
        <p:spPr>
          <a:xfrm>
            <a:off x="3444194" y="3996928"/>
            <a:ext cx="2682213" cy="2034778"/>
          </a:xfrm>
          <a:prstGeom prst="rect">
            <a:avLst/>
          </a:prstGeom>
          <a:solidFill>
            <a:srgbClr val="111B30"/>
          </a:solidFill>
          <a:ln/>
        </p:spPr>
      </p:sp>
      <p:sp>
        <p:nvSpPr>
          <p:cNvPr id="14" name="Text 12"/>
          <p:cNvSpPr/>
          <p:nvPr/>
        </p:nvSpPr>
        <p:spPr>
          <a:xfrm>
            <a:off x="3672788" y="4225528"/>
            <a:ext cx="2225024" cy="496491"/>
          </a:xfrm>
          <a:prstGeom prst="rect">
            <a:avLst/>
          </a:prstGeom>
          <a:noFill/>
          <a:ln/>
        </p:spPr>
        <p:txBody>
          <a:bodyPr wrap="square" lIns="0" tIns="0" rIns="0" bIns="0" rtlCol="0" anchor="t">
            <a:normAutofit lnSpcReduction="10000"/>
          </a:bodyPr>
          <a:lstStyle/>
          <a:p>
            <a:pPr marL="0" indent="0" algn="l">
              <a:lnSpc>
                <a:spcPct val="96000"/>
              </a:lnSpc>
              <a:buNone/>
            </a:pPr>
            <a:r>
              <a:rPr lang="en-US" sz="1700" b="1" dirty="0">
                <a:solidFill>
                  <a:srgbClr val="00E5FF"/>
                </a:solidFill>
                <a:latin typeface="Hubot Sans Bold" pitchFamily="34" charset="0"/>
                <a:ea typeface="Hubot Sans Bold" pitchFamily="34" charset="-122"/>
                <a:cs typeface="Hubot Sans Bold" pitchFamily="34" charset="-120"/>
              </a:rPr>
              <a:t>Architectural decoupling</a:t>
            </a:r>
            <a:endParaRPr lang="en-US" sz="1700" dirty="0"/>
          </a:p>
        </p:txBody>
      </p:sp>
      <p:sp>
        <p:nvSpPr>
          <p:cNvPr id="15" name="Text 13"/>
          <p:cNvSpPr/>
          <p:nvPr/>
        </p:nvSpPr>
        <p:spPr>
          <a:xfrm>
            <a:off x="3672788" y="4877594"/>
            <a:ext cx="2225024" cy="925513"/>
          </a:xfrm>
          <a:prstGeom prst="rect">
            <a:avLst/>
          </a:prstGeom>
          <a:noFill/>
          <a:ln/>
        </p:spPr>
        <p:txBody>
          <a:bodyPr wrap="square" lIns="0" tIns="0" rIns="0" bIns="0" rtlCol="0" anchor="t">
            <a:normAutofit/>
          </a:bodyPr>
          <a:lstStyle/>
          <a:p>
            <a:pPr marL="0" indent="0" algn="l">
              <a:lnSpc>
                <a:spcPct val="113000"/>
              </a:lnSpc>
              <a:buNone/>
            </a:pPr>
            <a:r>
              <a:rPr lang="en-US" sz="1350" dirty="0">
                <a:solidFill>
                  <a:srgbClr val="FFFFFF"/>
                </a:solidFill>
                <a:latin typeface="Hubot Sans" pitchFamily="34" charset="0"/>
                <a:ea typeface="Hubot Sans" pitchFamily="34" charset="-122"/>
                <a:cs typeface="Hubot Sans" pitchFamily="34" charset="-120"/>
              </a:rPr>
              <a:t>Presentation layer operates independently from core backend security logic for maximum reliability.</a:t>
            </a:r>
            <a:endParaRPr lang="en-US" sz="1350" dirty="0"/>
          </a:p>
        </p:txBody>
      </p:sp>
      <p:sp>
        <p:nvSpPr>
          <p:cNvPr id="16" name="Shape 14"/>
          <p:cNvSpPr/>
          <p:nvPr/>
        </p:nvSpPr>
        <p:spPr>
          <a:xfrm>
            <a:off x="7040684" y="0"/>
            <a:ext cx="5151011" cy="6858000"/>
          </a:xfrm>
          <a:prstGeom prst="rect">
            <a:avLst/>
          </a:prstGeom>
          <a:solidFill>
            <a:srgbClr val="060913"/>
          </a:solidFill>
          <a:ln/>
        </p:spPr>
      </p:sp>
      <p:sp>
        <p:nvSpPr>
          <p:cNvPr id="17" name="Text 15"/>
          <p:cNvSpPr/>
          <p:nvPr/>
        </p:nvSpPr>
        <p:spPr>
          <a:xfrm>
            <a:off x="7650269" y="609600"/>
            <a:ext cx="4541426"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FFFFFF"/>
                </a:solidFill>
                <a:latin typeface="Martian Mono" pitchFamily="34" charset="0"/>
                <a:ea typeface="Martian Mono" pitchFamily="34" charset="-122"/>
                <a:cs typeface="Martian Mono" pitchFamily="34" charset="-120"/>
              </a:rPr>
              <a:t>SOC TELEMETRY · LIVE VIEW</a:t>
            </a:r>
            <a:endParaRPr lang="en-US" sz="1100" dirty="0"/>
          </a:p>
        </p:txBody>
      </p:sp>
      <p:sp>
        <p:nvSpPr>
          <p:cNvPr id="18" name="Shape 16"/>
          <p:cNvSpPr/>
          <p:nvPr/>
        </p:nvSpPr>
        <p:spPr>
          <a:xfrm>
            <a:off x="7650269" y="1030288"/>
            <a:ext cx="3931742" cy="31651"/>
          </a:xfrm>
          <a:prstGeom prst="roundRect">
            <a:avLst>
              <a:gd name="adj" fmla="val 49998"/>
            </a:avLst>
          </a:prstGeom>
          <a:solidFill>
            <a:srgbClr val="00E5FF"/>
          </a:solidFill>
          <a:ln/>
        </p:spPr>
      </p:sp>
      <p:sp>
        <p:nvSpPr>
          <p:cNvPr id="19" name="Text 17"/>
          <p:cNvSpPr/>
          <p:nvPr/>
        </p:nvSpPr>
        <p:spPr>
          <a:xfrm>
            <a:off x="7650269" y="1482725"/>
            <a:ext cx="3931841" cy="292100"/>
          </a:xfrm>
          <a:prstGeom prst="rect">
            <a:avLst/>
          </a:prstGeom>
          <a:noFill/>
          <a:ln/>
        </p:spPr>
        <p:txBody>
          <a:bodyPr wrap="none" lIns="0" tIns="0" rIns="0" bIns="0" rtlCol="0" anchor="t"/>
          <a:lstStyle/>
          <a:p>
            <a:pPr marL="0" indent="0" algn="l">
              <a:lnSpc>
                <a:spcPct val="96000"/>
              </a:lnSpc>
              <a:buNone/>
            </a:pPr>
            <a:r>
              <a:rPr lang="en-US" sz="2000" b="1" dirty="0">
                <a:solidFill>
                  <a:srgbClr val="FFFFFF"/>
                </a:solidFill>
                <a:latin typeface="Hubot Sans Bold" pitchFamily="34" charset="0"/>
                <a:ea typeface="Hubot Sans Bold" pitchFamily="34" charset="-122"/>
                <a:cs typeface="Hubot Sans Bold" pitchFamily="34" charset="-120"/>
              </a:rPr>
              <a:t>Presentation layer</a:t>
            </a:r>
            <a:endParaRPr lang="en-US" sz="2000" dirty="0"/>
          </a:p>
        </p:txBody>
      </p:sp>
      <p:sp>
        <p:nvSpPr>
          <p:cNvPr id="20" name="Text 18"/>
          <p:cNvSpPr/>
          <p:nvPr/>
        </p:nvSpPr>
        <p:spPr>
          <a:xfrm>
            <a:off x="7650269" y="1930400"/>
            <a:ext cx="3931841" cy="396081"/>
          </a:xfrm>
          <a:prstGeom prst="rect">
            <a:avLst/>
          </a:prstGeom>
          <a:noFill/>
          <a:ln/>
        </p:spPr>
        <p:txBody>
          <a:bodyPr wrap="square" lIns="0" tIns="0" rIns="0" bIns="0" rtlCol="0" anchor="t">
            <a:normAutofit/>
          </a:bodyPr>
          <a:lstStyle/>
          <a:p>
            <a:pPr marL="0" indent="0" algn="l">
              <a:lnSpc>
                <a:spcPct val="108000"/>
              </a:lnSpc>
              <a:buNone/>
            </a:pPr>
            <a:r>
              <a:rPr lang="en-US" sz="1200" kern="0" spc="12" dirty="0">
                <a:solidFill>
                  <a:srgbClr val="FFFFFF"/>
                </a:solidFill>
                <a:latin typeface="Hubot Sans" pitchFamily="34" charset="0"/>
                <a:ea typeface="Hubot Sans" pitchFamily="34" charset="-122"/>
                <a:cs typeface="Hubot Sans" pitchFamily="34" charset="-120"/>
              </a:rPr>
              <a:t>Operates independently from core backend security logic.</a:t>
            </a:r>
            <a:endParaRPr lang="en-US" sz="1200" dirty="0"/>
          </a:p>
        </p:txBody>
      </p:sp>
      <p:sp>
        <p:nvSpPr>
          <p:cNvPr id="21" name="Text 19"/>
          <p:cNvSpPr/>
          <p:nvPr/>
        </p:nvSpPr>
        <p:spPr>
          <a:xfrm>
            <a:off x="7650269" y="2520156"/>
            <a:ext cx="4541426" cy="198041"/>
          </a:xfrm>
          <a:prstGeom prst="rect">
            <a:avLst/>
          </a:prstGeom>
          <a:noFill/>
          <a:ln/>
        </p:spPr>
        <p:txBody>
          <a:bodyPr wrap="none" lIns="0" tIns="0" rIns="0" bIns="0" rtlCol="0" anchor="t"/>
          <a:lstStyle/>
          <a:p>
            <a:pPr marL="0" indent="0" algn="l">
              <a:lnSpc>
                <a:spcPct val="108000"/>
              </a:lnSpc>
              <a:buNone/>
            </a:pPr>
            <a:r>
              <a:rPr lang="en-US" sz="1200" kern="0" spc="96" dirty="0">
                <a:solidFill>
                  <a:srgbClr val="FFFFFF"/>
                </a:solidFill>
                <a:latin typeface="Martian Mono" pitchFamily="34" charset="0"/>
                <a:ea typeface="Martian Mono" pitchFamily="34" charset="-122"/>
                <a:cs typeface="Martian Mono" pitchFamily="34" charset="-120"/>
              </a:rPr>
              <a:t>PRESENTATION LAYER · DECOUPLED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0575" y="2311400"/>
            <a:ext cx="6832429" cy="174625"/>
          </a:xfrm>
          <a:prstGeom prst="rect">
            <a:avLst/>
          </a:prstGeom>
          <a:noFill/>
          <a:ln/>
        </p:spPr>
        <p:txBody>
          <a:bodyPr wrap="none" lIns="0" tIns="0" rIns="0" bIns="0" rtlCol="0" anchor="t"/>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CONCLUSION &amp; STRATEGIC ROADMAP</a:t>
            </a:r>
            <a:endParaRPr lang="en-US" sz="1100" dirty="0"/>
          </a:p>
        </p:txBody>
      </p:sp>
      <p:sp>
        <p:nvSpPr>
          <p:cNvPr id="3" name="Text 1"/>
          <p:cNvSpPr/>
          <p:nvPr/>
        </p:nvSpPr>
        <p:spPr>
          <a:xfrm>
            <a:off x="990575" y="2571750"/>
            <a:ext cx="6222844" cy="1944588"/>
          </a:xfrm>
          <a:prstGeom prst="rect">
            <a:avLst/>
          </a:prstGeom>
          <a:noFill/>
          <a:ln/>
        </p:spPr>
        <p:txBody>
          <a:bodyPr wrap="square" lIns="0" tIns="0" rIns="0" bIns="0" rtlCol="0" anchor="t">
            <a:normAutofit lnSpcReduction="10000"/>
          </a:bodyPr>
          <a:lstStyle/>
          <a:p>
            <a:pPr marL="0" indent="0" algn="l">
              <a:lnSpc>
                <a:spcPct val="73000"/>
              </a:lnSpc>
              <a:buNone/>
            </a:pPr>
            <a:r>
              <a:rPr lang="en-US" sz="5800" kern="0" spc="29" dirty="0">
                <a:solidFill>
                  <a:srgbClr val="F4F5FA"/>
                </a:solidFill>
                <a:latin typeface="Space Grotesk" pitchFamily="34" charset="0"/>
                <a:ea typeface="Space Grotesk" pitchFamily="34" charset="-122"/>
                <a:cs typeface="Space Grotesk" pitchFamily="34" charset="-120"/>
              </a:rPr>
              <a:t>From reconnaissance</a:t>
            </a:r>
            <a:endParaRPr lang="en-US" sz="5800" dirty="0"/>
          </a:p>
          <a:p>
            <a:pPr marL="0" indent="0" algn="l">
              <a:lnSpc>
                <a:spcPct val="73000"/>
              </a:lnSpc>
              <a:buNone/>
            </a:pPr>
            <a:r>
              <a:rPr lang="en-US" sz="5800" kern="0" spc="29" dirty="0">
                <a:solidFill>
                  <a:srgbClr val="F4F5FA"/>
                </a:solidFill>
                <a:latin typeface="Space Grotesk" pitchFamily="34" charset="0"/>
                <a:ea typeface="Space Grotesk" pitchFamily="34" charset="-122"/>
                <a:cs typeface="Space Grotesk" pitchFamily="34" charset="-120"/>
              </a:rPr>
              <a:t>to risk visibility.</a:t>
            </a:r>
            <a:endParaRPr lang="en-US" sz="5800" dirty="0"/>
          </a:p>
        </p:txBody>
      </p:sp>
      <p:sp>
        <p:nvSpPr>
          <p:cNvPr id="4" name="Text 2"/>
          <p:cNvSpPr/>
          <p:nvPr/>
        </p:nvSpPr>
        <p:spPr>
          <a:xfrm>
            <a:off x="990575" y="4732238"/>
            <a:ext cx="6222844"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DDE0EE"/>
                </a:solidFill>
                <a:latin typeface="Hubot Sans" pitchFamily="34" charset="0"/>
                <a:ea typeface="Hubot Sans" pitchFamily="34" charset="-122"/>
                <a:cs typeface="Hubot Sans" pitchFamily="34" charset="-120"/>
              </a:rPr>
              <a:t>Current delivery: automated reconnaissance, structured attack-surface visibility, evidence-backed findings, risk prioritization, and auditable reporting.</a:t>
            </a:r>
            <a:endParaRPr lang="en-US" sz="1700" dirty="0"/>
          </a:p>
        </p:txBody>
      </p:sp>
      <p:sp>
        <p:nvSpPr>
          <p:cNvPr id="5" name="Text 3"/>
          <p:cNvSpPr/>
          <p:nvPr/>
        </p:nvSpPr>
        <p:spPr>
          <a:xfrm>
            <a:off x="990575" y="5800130"/>
            <a:ext cx="6222844" cy="628650"/>
          </a:xfrm>
          <a:prstGeom prst="rect">
            <a:avLst/>
          </a:prstGeom>
          <a:noFill/>
          <a:ln/>
        </p:spPr>
        <p:txBody>
          <a:bodyPr wrap="square" lIns="0" tIns="0" rIns="0" bIns="0" rtlCol="0" anchor="t">
            <a:normAutofit/>
          </a:bodyPr>
          <a:lstStyle/>
          <a:p>
            <a:pPr marL="0" indent="0" algn="l">
              <a:lnSpc>
                <a:spcPct val="104000"/>
              </a:lnSpc>
              <a:buNone/>
            </a:pPr>
            <a:r>
              <a:rPr lang="en-US" sz="1100" kern="0" spc="88" dirty="0">
                <a:solidFill>
                  <a:srgbClr val="E2E8E4"/>
                </a:solidFill>
                <a:latin typeface="Martian Mono" pitchFamily="34" charset="0"/>
                <a:ea typeface="Martian Mono" pitchFamily="34" charset="-122"/>
                <a:cs typeface="Martian Mono" pitchFamily="34" charset="-120"/>
              </a:rPr>
              <a:t>NEXT · LLM REMEDIATION · THREAT INTELLIGENCE · CONTINUOUS CLOUD &amp; SIEM INTEGRATION</a:t>
            </a:r>
            <a:endParaRPr lang="en-US" sz="1100" dirty="0"/>
          </a:p>
        </p:txBody>
      </p:sp>
      <p:pic>
        <p:nvPicPr>
          <p:cNvPr id="7" name="Picture 6">
            <a:extLst>
              <a:ext uri="{FF2B5EF4-FFF2-40B4-BE49-F238E27FC236}">
                <a16:creationId xmlns:a16="http://schemas.microsoft.com/office/drawing/2014/main" id="{4250CEC8-DD38-CC6F-AF38-396AF715EE1A}"/>
              </a:ext>
            </a:extLst>
          </p:cNvPr>
          <p:cNvPicPr>
            <a:picLocks noChangeAspect="1"/>
          </p:cNvPicPr>
          <p:nvPr/>
        </p:nvPicPr>
        <p:blipFill>
          <a:blip r:embed="rId3"/>
          <a:stretch>
            <a:fillRect/>
          </a:stretch>
        </p:blipFill>
        <p:spPr>
          <a:xfrm>
            <a:off x="10363042" y="6428780"/>
            <a:ext cx="1828958" cy="3581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1039</Words>
  <Application>Microsoft Office PowerPoint</Application>
  <PresentationFormat>Widescreen</PresentationFormat>
  <Paragraphs>138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Hubot Sans Bold</vt:lpstr>
      <vt:lpstr>Space Grotesk</vt:lpstr>
      <vt:lpstr>Martian Mono</vt:lpstr>
      <vt:lpstr>Arial</vt:lpstr>
      <vt:lpstr>Hubot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kushangala vardhan babu</cp:lastModifiedBy>
  <cp:revision>1</cp:revision>
  <dcterms:created xsi:type="dcterms:W3CDTF">2026-09-26T06:02:49Z</dcterms:created>
  <dcterms:modified xsi:type="dcterms:W3CDTF">2026-09-26T06:13:29Z</dcterms:modified>
</cp:coreProperties>
</file>